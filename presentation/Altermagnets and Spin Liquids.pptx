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23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24.xml" ContentType="application/vnd.openxmlformats-officedocument.presentationml.comments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19.png" ContentType="image/png"/>
  <Override PartName="/ppt/media/image25.png" ContentType="image/png"/>
  <Override PartName="/ppt/media/image62.png" ContentType="image/png"/>
  <Override PartName="/ppt/media/image26.png" ContentType="image/png"/>
  <Override PartName="/ppt/media/image63.png" ContentType="image/png"/>
  <Override PartName="/ppt/media/image27.png" ContentType="image/png"/>
  <Override PartName="/ppt/media/image64.png" ContentType="image/png"/>
  <Override PartName="/ppt/media/image28.png" ContentType="image/png"/>
  <Override PartName="/ppt/media/image70.png" ContentType="image/png"/>
  <Override PartName="/ppt/media/image65.png" ContentType="image/png"/>
  <Override PartName="/ppt/media/image29.png" ContentType="image/png"/>
  <Override PartName="/ppt/media/image71.png" ContentType="image/png"/>
  <Override PartName="/ppt/media/image66.png" ContentType="image/png"/>
  <Override PartName="/ppt/media/image79.png" ContentType="image/png"/>
  <Override PartName="/ppt/media/image67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69.png" ContentType="image/png"/>
  <Override PartName="/ppt/media/image68.png" ContentType="image/png"/>
  <Override PartName="/ppt/media/image21.png" ContentType="image/png"/>
  <Override PartName="/ppt/media/image58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38.png" ContentType="image/png"/>
  <Override PartName="/ppt/media/image80.png" ContentType="image/png"/>
  <Override PartName="/ppt/media/image6.png" ContentType="image/png"/>
  <Override PartName="/ppt/media/image15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39.png" ContentType="image/png"/>
  <Override PartName="/ppt/media/image81.png" ContentType="image/png"/>
  <Override PartName="/ppt/media/image7.png" ContentType="image/png"/>
  <Override PartName="/ppt/media/image16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20.png" ContentType="image/png"/>
  <Override PartName="/ppt/media/image57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/>
  <p:notesSz cx="6858000" cy="9144000"/>
</p:presentation>
</file>

<file path=ppt/commentAuthors.xml><?xml version="1.0" encoding="utf-8"?>
<p:cmAuthorLst xmlns:p="http://schemas.openxmlformats.org/presentationml/2006/main">
  <p:cmAuthor id="0" name="Jonas" initials="J" lastIdx="2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presProps" Target="presProps.xml"/><Relationship Id="rId30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5-16T19:15:29.577000000" idx="1">
    <p:pos x="6118" y="0"/>
    <p:text>- write down time for each slide
- practice not exceeding that time per slide
! - make one transition sentence pre slide</p:text>
  </p:cm>
</p:cmLst>
</file>

<file path=ppt/comments/comment2.xml><?xml version="1.0" encoding="utf-8"?>
<p:cmLst xmlns:p="http://schemas.openxmlformats.org/presentationml/2006/main">
  <p:cm authorId="0" dt="2026-05-16T19:11:26.800000000" idx="2">
    <p:pos x="6118" y="0"/>
    <p:text>Plot abändern, links ok, rechts arsch
RVB besser darstellen ODER rvb aus review paper?</p:text>
  </p:cm>
  <p:cm authorId="0" dt="2026-05-17T16:03:17.828000000" idx="3">
    <p:pos x="6118" y="0"/>
    <p:text>font + größe bei allen Folien angleichn
1 total reaction
Jonas reacted with ✔️ at 2026-05-17 16:03 PM</p:text>
  </p:cm>
  <p:cm authorId="0" dt="2026-05-17T01:18:38.220000000" idx="4">
    <p:pos x="6118" y="360"/>
    <p:text>why does altermagnet have a broken symmetry??</p:text>
  </p:cm>
  <p:cm authorId="0" dt="2026-05-17T01:19:00.578000000" idx="5">
    <p:pos x="6118" y="360"/>
    <p:text>short explanational sentence to each example</p:text>
  </p:cm>
</p:cmLst>
</file>

<file path=ppt/comments/comment10.xml><?xml version="1.0" encoding="utf-8"?>
<p:cmLst xmlns:p="http://schemas.openxmlformats.org/presentationml/2006/main">
  <p:cm authorId="0" dt="2026-05-23T15:20:14.621000000" idx="6">
    <p:pos x="6118" y="0"/>
    <p:text>maybe: tabelle ersetzen und mit in notizen gespeicherter austauschen?</p:text>
  </p:cm>
  <p:cm authorId="0" dt="2026-05-23T15:20:14.621000000" idx="7">
    <p:pos x="6118" y="0"/>
    <p:text>wtf hab ich damit gemeint?</p:text>
  </p:cm>
  <p:cm authorId="0" dt="2026-05-23T15:29:27.608000000" idx="8">
    <p:pos x="6118" y="0"/>
    <p:text>PT:Wo Farbe, Wo Darstellung -&gt; bessere bildliche Vorstellung für QSL ähnlich wie aus slide 2</p:text>
  </p:cm>
  <p:cm authorId="0" dt="2026-05-23T15:29:27.608000000" idx="9">
    <p:pos x="6118" y="0"/>
    <p:text>PT VORALLEM: und zwar das klassiche vor allem bevor ich diese slide bespreche; da ich in slide 2 kurz die skizze der qsl anspreche, sollte das hier (nach allem klassichen input) nochmal wiederholt werden; !spezieller augemerk (position noch offen, davor im klassichen oder hier) den Unterschied zwischen klassisch und magentischer ordnung unterscheiden</p:text>
  </p:cm>
</p:cmLst>
</file>

<file path=ppt/comments/comment11.xml><?xml version="1.0" encoding="utf-8"?>
<p:cmLst xmlns:p="http://schemas.openxmlformats.org/presentationml/2006/main">
  <p:cm authorId="0" dt="2026-05-23T15:21:36.986000000" idx="10">
    <p:pos x="6118" y="0"/>
    <p:text>Probetalk (PT): Sketch Parton up/down -&gt; constraint über alle bosonen veranschaulichen?</p:text>
  </p:cm>
</p:cmLst>
</file>

<file path=ppt/comments/comment13.xml><?xml version="1.0" encoding="utf-8"?>
<p:cmLst xmlns:p="http://schemas.openxmlformats.org/presentationml/2006/main">
  <p:cm authorId="0" dt="2026-05-17T23:16:12.293000000" idx="11">
    <p:pos x="6118" y="0"/>
    <p:text>Hier fehlt noch eine nice darstellung zwischen U(1) und Z2,
einfaches rechenbeispiel mit Aij und Aij mit imaginären Bij wäre auch schon anschaulich
1 total reaction
Jonas reacted with 👍 at 2026-05-17 23:16 PM</p:text>
  </p:cm>
  <p:cm authorId="0" dt="2026-05-23T15:24:09.318000000" idx="12">
    <p:pos x="6118" y="0"/>
    <p:text>PT: Rechenbeispiel immernoch zu unanschaulich; da klassische phasen am anfang introduced werden -&gt; Skizze der Ansätze</p:text>
  </p:cm>
  <p:cm authorId="0" dt="2026-05-23T15:24:09.318000000" idx="13">
    <p:pos x="6118" y="0"/>
    <p:text>Dann müssten aber die qsl ansätze, welche ja auf aij and bij basieren, vorher auch introduced werden</p:text>
  </p:cm>
</p:cmLst>
</file>

<file path=ppt/comments/comment14.xml><?xml version="1.0" encoding="utf-8"?>
<p:cmLst xmlns:p="http://schemas.openxmlformats.org/presentationml/2006/main">
  <p:cm authorId="0" dt="2026-05-23T15:31:34.947000000" idx="14">
    <p:pos x="6118" y="0"/>
    <p:text>Make the strategy an actual flow chart with tikz</p:text>
  </p:cm>
  <p:cm authorId="0" dt="2026-05-23T15:31:34.947000000" idx="15">
    <p:pos x="6118" y="0"/>
    <p:text>PT: essentially hab ichs scheiße erklärt;
Der Ansatz dieses Algorithmus wird so gewählt dass das natürlichste SL aus der klassischen Phase entwächst, somit wird auch das konzept des "Nachbar Liquids" klarer</p:text>
  </p:cm>
</p:cmLst>
</file>

<file path=ppt/comments/comment17.xml><?xml version="1.0" encoding="utf-8"?>
<p:cmLst xmlns:p="http://schemas.openxmlformats.org/presentationml/2006/main">
  <p:cm authorId="0" dt="2026-05-17T01:45:25.785000000" idx="16">
    <p:pos x="6118" y="0"/>
    <p:text>MOST IMPORTANT SLIDE</p:text>
  </p:cm>
  <p:cm authorId="0" dt="2026-05-23T15:36:46.773000000" idx="17">
    <p:pos x="6118" y="0"/>
    <p:text>PT: scheiß tabelle</p:text>
  </p:cm>
  <p:cm authorId="0" dt="2026-05-23T15:36:46.773000000" idx="18">
    <p:pos x="6118" y="0"/>
    <p:text>heavylifting sollte an diesem punkt wohl wieder die phasengrafik machen in der die observablen explizit ausgerechnet werden!</p:text>
  </p:cm>
</p:cmLst>
</file>

<file path=ppt/comments/comment18.xml><?xml version="1.0" encoding="utf-8"?>
<p:cmLst xmlns:p="http://schemas.openxmlformats.org/presentationml/2006/main">
  <p:cm authorId="0" dt="2026-05-17T01:44:51.805000000" idx="19">
    <p:pos x="6118" y="0"/>
    <p:text>sources needed??</p:text>
  </p:cm>
</p:cmLst>
</file>

<file path=ppt/comments/comment21.xml><?xml version="1.0" encoding="utf-8"?>
<p:cmLst xmlns:p="http://schemas.openxmlformats.org/presentationml/2006/main">
  <p:cm authorId="0" dt="2026-05-17T01:45:18.772000000" idx="20">
    <p:pos x="6118" y="0"/>
    <p:text>second most important slide</p:text>
  </p:cm>
  <p:cm authorId="0" dt="2026-05-23T15:35:45.932000000" idx="21">
    <p:pos x="6118" y="0"/>
    <p:text>SB Ansätze können erst nach der Kondensation mit klassichen verglichen werden</p:text>
  </p:cm>
</p:cmLst>
</file>

<file path=ppt/comments/comment23.xml><?xml version="1.0" encoding="utf-8"?>
<p:cmLst xmlns:p="http://schemas.openxmlformats.org/presentationml/2006/main">
  <p:cm authorId="0" dt="2026-05-23T15:40:11.419000000" idx="22">
    <p:pos x="6118" y="0"/>
    <p:text>wie kann ich diesen phasenübergang zweiter ordnung noch erwähnen?</p:text>
  </p:cm>
</p:cmLst>
</file>

<file path=ppt/comments/comment24.xml><?xml version="1.0" encoding="utf-8"?>
<p:cmLst xmlns:p="http://schemas.openxmlformats.org/presentationml/2006/main">
  <p:cm authorId="0" dt="2026-05-17T13:41:12.807000000" idx="23">
    <p:pos x="6118" y="0"/>
    <p:text>only very shortly do this</p:text>
  </p:cm>
  <p:cm authorId="0" dt="2026-05-17T13:41:12.807000000" idx="24">
    <p:pos x="6118" y="0"/>
    <p:text>nur als optionale vorletzte slide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E1B611F-2405-47F9-AC13-73400CD8B7C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Good afternoon. I'm Jonas, and I'll close today's seminar with a question that none of the previous talks have addressed directly: what happens to an altermagnet when its spin order is destroyed by quantum fluctuations? The answer involves spin liquids, fractionalized excitations, and a new phase we'll call the altermagnetic spin liquid.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Zeitsoll am Ende: ~ 2 min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— — — — — — —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Today's talks covered a lot of ground on ordered altermagnets — band splitting, ARPES measurements, magnon spectra, topology in the band structure. All of that physics assumed the spins are ordered, especially long-ranged: there is a well-defined spin texture that breaks time-reversal symmetry in a specific way.</a:t>
            </a:r>
            <a:br>
              <a:rPr sz="1100"/>
            </a:b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 want to go to the adjacent regime. </a:t>
            </a:r>
            <a:br>
              <a:rPr sz="1100"/>
            </a:b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Take that same altermagnetic system, but now make the frustrated couplings strong — strong enough that quantum fluctuations prevent the spins from ever settling into a static pattern. The spin order melts. And now the question becomes: does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anything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altermagnetic survive in that disordered phase?That is the question this paper answers. And the answer is yes — but the way it survives is subtle and requires new language. Let me build that language for you.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"To make this concrete, we need a model that is an altermagnet and, at the same time, can be strongly frustrated. Here it is."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Folienende Zeitsoll kumuliert: ~ 5 min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Für diese Folie: ~ 2min 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— — — — — — —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model is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checkerboard Heisenberg magnet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with three couplings.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J₁ &gt;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antiferromagnetic connection between nearest-neighbor bonds.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J₂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couples next-nearest-neighbor bonds and introduces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frustration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a ring-exchange term that competes with collinear order and, crucially,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stabilizes a noncoplanar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key symmetry point, that i think we heard often enough now, so ill make it quick: the two sublattices A and B are related by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fourfold rotation C₄z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not by a lattice translation. This is exactly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symmetry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With only J₁, the model has an artificial translation symmetry between A and B. Adding J₂ and K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breaks that translation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leaving only C₄z - and that is what makes the ground state an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rather than a conventional AFM. Now the following calculations are not limited to this model, its just one explicit example.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To find the connections to the quantum spin liquid, our next step is to first find different phases established by different sets of parameters J1,J2 and 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Folienende Zeitsoll kumuliert: ~ 6 min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Für diese Folie: ~ 1min 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— — — — — — —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Here we see this phase diagram for different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(J2, K)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values. Now we get these by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minimization of the energy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for each of these points. For that we make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classical Spinansatz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Classical limit (S → ∞): spins are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classical vectors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no quantum fluctuations. This Ansatz has three parameters over which we will create a grid and then find the minimum by applying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gradient descent algorithm.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We repeat that for each point of the J2,K parameter space and by looking at the parameters in our spinansatz we will find these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classical spin textures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Folienende Zeitsoll kumuliert: ~9 min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Für diese Folie: ~ 3min </a:t>
            </a:r>
            <a:br>
              <a:rPr sz="1100"/>
            </a:b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— — — — — — —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key insight is this –  when we later quantum-melt these phases into spin liquids, spin-rotation symmetry is restored 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⟨Si⟩=0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everywhere. A conventional magnetic order parameter vanishes. So we need observables that are spin-rotation invariant - quantities that can remain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nonzero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even when there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 spin polarization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two observables used throughout the paper are defined on a single plaquette of four spins. The first is the vector of nearest-neighbor scalar products: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SEP=(S1⋅S2, S2⋅S3, S3⋅S4, S4⋅S1)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is invariant under global spin rotations. If all four components are equal, C4z is preserved. If they alternate — say (−1,1,−1,1)(-1,1,-1,1)(−1,1,−1,1) — then C4zC_{4z}C4z is broken. This is a nematic order parameter in the spin-rotation-invariant sector.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second is the scalar spin chirality: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χEP=(S1⋅(S2×S3), S2⋅(S3×S4), S3⋅(S4×S1), S4⋅(S1×S2)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requires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three spins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to be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noncoplana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 — it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vanishes for all coplanar phases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It is odd under time reversal, because T flips all spin directions and a triple product of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three flipped vectors acquires a minus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sign.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These two observables together tell us everything we need: whether C4z is broken, whether T is broken, and — crucially — </a:t>
            </a:r>
            <a:r>
              <a:rPr b="1" i="1" lang="en-US" sz="1100" spc="-1" strike="noStrike">
                <a:solidFill>
                  <a:srgbClr val="000000"/>
                </a:solidFill>
                <a:latin typeface="Arial"/>
              </a:rPr>
              <a:t>how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they are broken. So lets walk through each phase and their observables together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First see the color legend at the top for the values of our observables.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A1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collinear 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anchor of our story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spins on A are all pointing right, the spins on B all pointing left. The plaquette observable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uniform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−(1, 1, 1, 1). Every bond has the same antiferromagnetic scalar product. All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four-fold rotational symmetry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intact.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chirality is zero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all spins are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coplanar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so the triple product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S_i · (S_j × S_k)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vanishes identically.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A1 is non-chiral.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A2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canted 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spins on the A sublattice develop a small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out-of-plane tilt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you can see the crossed circles in the texture — generating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net magnetization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still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uniform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−(s_0, s_0, s_0, s_0), but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s_0 &lt; 1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now because the spins are no longer perfectly antiparallel. Chirality still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zero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still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coplanar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B1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first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nematic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Look at the texture: horizontal bonds have antiparallel spins, but vertical bonds are nearly parallel. That anisotropy appears immediately in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 = (−1, 1, −1, 1)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alternating sign around the plaquette. The four-fold rotation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C_4z is broken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; only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two-fold rotation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survives. Still coplanar, chirality zero.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B2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second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nematic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related to B1 by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45-degree rotation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of the nematic axis. The breaking pattern is different: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 = (1, 1, −1, −1)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two positive bonds, two negative bonds, grouped in pairs rather than alternating. Different symmetry breaking,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same physics class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A3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four-sublattice antiferromagnet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spins rotate by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90 degrees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between each bond-site — a spiral with wavevector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(π/2, π/2)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Because neighboring spins are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orthogonal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S_i · S_j =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everywhere: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 = (0, 0, 0, 0)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Chirality also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zero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orthogonal spins in a plane give no triple product.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And now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key phase: 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spins cant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out of the plane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the dot-with-cross symbol means spin pointing into the page on the A sublattice, and the dot-with-arrow means pointing partially out on the B sublattice.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in-plane components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still look roughly like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A1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so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 = −(s_0′, s_0′, s_0′, s_0′)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still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uniform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 is not nematic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But this is what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different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pink triangle: because the spins are now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noncoplanar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scalar chirality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S_i · (S_j × S_k)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nonzero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And the pattern around the plaquette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staggered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the triangle on one side of the red bond has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positive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triangle on the other side has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negative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full vector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χ</a:t>
            </a:r>
            <a:r>
              <a:rPr b="1" i="1" lang="en-US" sz="1100" spc="-1" strike="noStrike">
                <a:solidFill>
                  <a:srgbClr val="000000"/>
                </a:solidFill>
                <a:latin typeface="Arial"/>
              </a:rPr>
              <a:t>EP ∝ (−1, +1, −1, +1)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This staggered pattern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preserved by the combined operation T C_4z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symmetry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but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broken by T and C_4z individually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This is why we call it an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orbital 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the altermagnetic symmetry pattern lives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chirality channel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not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 direction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This phase is the one we will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quantum-melt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Everything that follows is the story of what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survives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So what do we mean when we say we quantum-melt a phase into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quantum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? A QSL is not just a magnet without order. It is something more specific. First: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 static magnetic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⟨S_i⟩ = 0 even at T = 0. Second: the ground state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long-range entangled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it cannot be adiabatically deformed into any product state. Third, and most importantly: it supports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fractionalized excitations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spin-½ spinons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cannot be created by any single local operator — 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emergent gauge fields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These are not the magnons from Minseong. Magnons are the Goldstone modes of broken order, also they have Spin-1.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Spinons exist precisely because there is no broken spin order.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You can visually think of a superposition of all possible singlet pairings on the lattice, calling it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Resonating Valence Bonds,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where yo ucan see that no single bond dominates and that state has no spin order by construction. Also this shows that we cannot write this a product state over any finite region.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Now the question is: how do we actually compute or construct a spin liquid? The answer is we split the spin into two bosons.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To access these phases mathematically, we use the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 Schwinger boson representation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Every spin is rewritten as two bosons, subject to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local constraint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ni=2Sni​=2S. </a:t>
            </a:r>
            <a:br>
              <a:rPr sz="1100"/>
            </a:b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decomposition is exact — it just embeds the spin Hilbert space in a larger one. The price is a local gauge redundancy, which the leaves all spin operators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unchanged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We then decouple the quartic exchange interaction using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Hubbard–Stratonovich transformation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introducing two mean-field bond parameters as auxiliary fields. The first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singlet pairing amplitude Aij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which is the amplitude to create or destroy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spin-0 singlet pair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on bond ijij: one boson with spin ↑↑ on site ii and one with spin ↓↓ on site jj, combined antisymmetrically so the total spin is zero. You can think of AijAij​ as the quantum amplitude for sites ii and jj to form a valence bond — it is Anderson's RVB singlet bond made explicit.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second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boson hopping amplitude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Bij which is the amplitude for a boson to hop from site jj to site ii while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preserving its spin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the standard tight-binding hopping of band theory</a:t>
            </a:r>
            <a:br>
              <a:rPr sz="1100"/>
            </a:b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 short: Bijmoves a boson across a bond; Aij creates or destroys a singlet pair on that bond. Together they encode the full resonating valence bond structure of the spin liquid.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result is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free-boson mean-field Hamiltonian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with a lagrange multiplier term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mu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enforcing the constraint on average. We then Fourier transform to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momentum space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where the Hamiltonian takes a quadratic form.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Bogoliubov transformation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diagonalizes it, yielding the quasiparticle band structure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pattern of {Aij,Bij} on the lattice —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is what defines the spin liquid.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Now the central connection.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μ is a Lagrange multiplier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fixes the average boson density ⟨n_i⟩ = 2S. Tuning μ and the couplings changes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boson dispersion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If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lowest mode reaches E =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bosons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condense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at some momentum k — and the condensate wavefunction reconstructs exactly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classical spin texture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of A1, B1, C, and so on. That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magnetic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If the band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stays gapped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no condensation — the spins do not order. Instead, the Ansatz {A_ij, B_ij} describes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fractionalized, entangled state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same Ansatz that gives magnetic order upon condensation gives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QSL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when kept gapped. This is the bridge between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and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concept of a QSL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Not all spin liquids are the same. The type is determined by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Invariant Gauge Group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IGG. The Schwinger boson construction always has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local U(1) gauge redundancy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But a specific Ansatz {A_ij, B_ij} will typically break most of that redundancy.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IGG is the subgroup of gauge transformations that leaves the Ansatz invariant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If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continuous U(1) subgroup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survives, you have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U(1)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but this is generically unstable in 2D. If only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discrete sign flip b_i → −b_i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survives, you have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Z₂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stable topological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2D. In practice: adding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imaginary B_ij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to an Ansatz almost always reduces the IGG from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U(1) to Z₂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because imaginary bonds are sensitive to phase transformations that real bonds are not.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Phase A1 has only real A_ij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→ IGG = U(1)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So how do we actually find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for each classical phase? The strategy is to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reverse-engineer the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Step one: choose a pattern of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A_ij and B_ij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on nearest-neighbor and next-nearest-neighbor bonds. Step two: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diagonalize the free-boson Hamiltonian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via a Bogoliubov transformation. Step three: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tune μ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until the lowest mode condenses. Step four: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reconstruct the spin texture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from the condensate and check whether it matches the target phase — A1, B1, C, and so on. Nearest and next-nearest-neighbor bonds are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sufficient for all six phases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no unit cell enlargement needed.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gapped version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of that same Ansatz — where the bosons do not condense —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QSL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and it inherits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same IGG and discrete symmetry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as the parent ordered phase. This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symmetry inheritance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makes the orbital altermagnet so special.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Here is the full picture. Each panel in Figure 2 shows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Schwinger boson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for one classical phase.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Blue arrows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are real A_ij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singlet pairing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Black and gray arrows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are real and imaginary B_ij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boson hopping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colored ellipses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show ⟨S_EP⟩ directly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spin-liquid regime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before any condensation — confirming that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symmetry of the QSL matches the symmetry of the classical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Every classical phase has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But phase C is distinguished: it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only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requires imaginary B_ij and shows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chirality pattern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spin-liquid regime. That is the one we care about.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Here is the full picture. Each panel in Figure 2 shows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Schwinger boson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for one classical phase.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Blue arrows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are real A_ij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singlet pairing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Black and gray arrows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are real and imaginary B_ij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boson hopping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colored ellipses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show ⟨S_EP⟩ directly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spin-liquid regime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before any condensation — confirming that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symmetry of the QSL matches the symmetry of the classical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Every classical phase has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But phase C is distinguished: it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only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requires imaginary B_ij and shows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chirality pattern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spin-liquid regime. That is the one we care about.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This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main result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orbital altermagnet — phase C — has a neighboring Ansatz with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IGG = Z₂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giving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Z₂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Now look at what happens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spin-liquid regime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where the bosons are gapped and there is no condensation. Table II tells us: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⟨S_EP⟩ is isotropic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(1, 1, 1, 1)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C_4z is fully restored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spin sector. But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⟨χ</a:t>
            </a:r>
            <a:r>
              <a:rPr b="1" i="1" lang="en-US" sz="1100" spc="-1" strike="noStrike">
                <a:solidFill>
                  <a:srgbClr val="000000"/>
                </a:solidFill>
                <a:latin typeface="Arial"/>
              </a:rPr>
              <a:t>EP⟩ is staggered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(−1, +1, −1, +1)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time-reversal is still broken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chirality sector, with exactly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T·C_4z pattern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of an altermagnet. Let me say that again clearly: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⟨S_i⟩ =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everywhere — there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 spin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But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chirality pattern survives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fractionalized phase. The result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Z₂ topological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combined with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persistent altermagnetic scalar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this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symmetry-enriched topological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did not exist before this paper.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Let me close with three take-home points. First: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checkerboard J₁–J₂–K model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hosts, alongside collinear and nematic phases,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noncoplanar orbital 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phase C — with a staggered scalar chirality pattern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invariant under T·C_4z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Second: using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Schwinger bosons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each classical phase has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neighboring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inherits the same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discrete symmetry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via S_EP and χ_EP. Third: the orbital AM's neighbor is an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Z₂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 spin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but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persistent altermagnetic chirality pattern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Z₂ topological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 paper lays the foundation to altermagnetic QSLs.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((The most direct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experimental route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would be STM or local susceptibility measurements sensitive to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bond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and the open question is whether candidate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frustrated altermagnetic materials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such as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Mn₅Si₃ or CsCr₃Sb₅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can host this phase. Frustrated altermagnets are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largely unexplored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This paper opens the map.))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Now that we’ve seen how Schwinger bosons work and how condensation gives the classical orders, the figure on the left is really the heart of the ‘nearby spin liquids’ story.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Each panel in this figure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one Schwinger‑boson Ansatz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{Aij,Bij} corresponding to one of the classical phases A1, A2, A3, B1, B2, and C. The arrows on the bonds encode the mean‑field parameters: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Blue arrows denote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real Aij​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singlet pairing amplitude between sites ii and jj.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Black and gray arrows denote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real or imaginary BijBij​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boson hopping amplitudes. The presence of imaginary hoppings and second‑neighbor bonds is what reduces the gauge group from U(1) down to Z₂ in some cases.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Superimposed on each Ansatz you see colored ellipses sitting on plaquettes. These represent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nearest‑neighbor spin products ⟨SEP⟩⟨SEP⟩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evaluated directly in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spin‑liquid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regime, i.e. before any bosons are condensed. The key idea is: you can already read off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spatial symmetry of the QSL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from these correlators: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 A1, A2, and A3, the ellipses are all equivalent: ⟨SEP⟩⟨SEP⟩ is isotropic and non‑nematic, matching the fully symmetric collinear and orthogonal phases in the classical diagram.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 B1 and B2, the ellipses clearly break C4C4​ rotation down to a twofold symmetry — these are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nematic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spin liquids sitting above the nematic orders B1 and B2.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So the first message of this figure is: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each spin liquid faithfully inherits the lattice symmetries of its parent classical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which you can see visually just from ⟨SEP⟩⟨SEP⟩.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second, more special message concerns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phase 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the orbital altermagnet. In its panel, in addition to isotropic ⟨SEP⟩⟨SEP⟩, they also show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staggered scalar‑chirality pattern ⟨χEP⟩⟨χEP​⟩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in the spin‑liquid state. This tells you that: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Time‑reversal is broken in spin‑rotation–invariant observables.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pattern of scalar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survives even when spin‑rotation symmetry is restored and the bosons are not condensed.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So phase C’s spin liquid is genuinely an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altermagnetic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it has Z₂ gauge structure (IGG = Z₂) and a staggered chirality pattern inherited from the orbital AM.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To summarize what’s on the right of this slide: the reduced Table I lists, for each label,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IGG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(U(1) or Z₂) and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symmetries of the spin liquid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A1, B1, and B2 give U(1) spin liquids; A2, A3, and C give Z₂ spin liquids. Putting Fig. 2 together with this table, you see precisely how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spin‑liquid Ansätze encode both symmetry and gauge structure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and how the orbital AM C leads to a Z₂ altermagnetic spin liquid with staggered chirality.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"Let me now focus on phase C, because it is the only Ansatz with a nonzero chirality pattern in the spin-liquid regime. This is the main result.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How are these phases actually found? Every spin texture is parameterized as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general spiral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ordering wavevector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sets the period and direction,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φ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phase shift between the two sublattices, 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η_{A/B}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out-of-plane canting —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zero for all coplanar phases, nonzero only for phase C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For each coupling point (J₂, K), a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grid search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followed by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gradient descent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finds the global energy minimum. Phase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A1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is the anchor: Q = (0,0) (describe Q), φ = π, η = 0 → antiparallel spins,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collinear AM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Its SR-invariant observables: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S_EP all equal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no nematicity — and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χ</a:t>
            </a:r>
            <a:r>
              <a:rPr b="1" i="1" lang="en-US" sz="1100" spc="-1" strike="noStrike">
                <a:solidFill>
                  <a:srgbClr val="000000"/>
                </a:solidFill>
                <a:latin typeface="Arial"/>
              </a:rPr>
              <a:t>EP =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no chirality. All magnetic point-group symmetries preserved modulo spin rotation.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"A1 is the base case: fully symmetric AM. As frustration increases, two nematic phases appear — B1 and B2. They break C₄z in spin-rotation-invariant observables, but crucially, their chirality χ_EP stays zero."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Phase C is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new phase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this paper introduces. When frustration is strong enough, it becomes energetically favorable to cant the spins out of the plane: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ηA &gt; 0, ηB &lt; 0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, with ηA + ηB = 0. This generates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nonzero scalar spin chirality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on every triangle. The pattern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staggered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χ_EP ∝ (−1, 1, −1, 1). Now the symmetry argument.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χ_EP is odd under T alone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flipping time reversal reverses all chiralities.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χ_EP is also odd under C₄z alone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rotating 90° maps (−1,1,−1,1) to (1,−1,1,−1). But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combined T·C₄z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maps it back to itself: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invariant under TC₄z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That is precisely the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defining symmetry of an altermagnet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— but now in the chirality channel. The phase transition from A1 to C is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second order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: χ_EP turns on continuously, as shown in right left plot. Why "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orbital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"? In an electron system, scalar chirality on a plaquette corresponds to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circulating orbital currents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These currents are locally nonzero but vanish globally — not through translation symmetry, but through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C₄z·T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i="1" lang="en-US" sz="1100" spc="-1" strike="noStrike">
                <a:solidFill>
                  <a:srgbClr val="000000"/>
                </a:solidFill>
                <a:latin typeface="Arial"/>
              </a:rPr>
              <a:t>"We now have the classical phases and we know which one has the AM symmetry in its chirality. The next step is to connect each classical phase to a Schwinger-boson Ansatz — and then ask what lives on the QSL side of that connection."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1542CC-DAA7-4E35-9106-8FDE0482D6F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5D1B86C-C602-4B90-8D9B-86BACF3F3B1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9CC057-D5DF-45C3-905B-D6AAB4F9CDA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49FE7F-3480-4258-AF86-F8F286723BBB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0EC0C5-051B-4109-8E94-6CD6A5C3B1B6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comments" Target="../comments/commen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5.png"/><Relationship Id="rId16" Type="http://schemas.openxmlformats.org/officeDocument/2006/relationships/image" Target="../media/image22.png"/><Relationship Id="rId17" Type="http://schemas.openxmlformats.org/officeDocument/2006/relationships/image" Target="../media/image19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19.png"/><Relationship Id="rId14" Type="http://schemas.openxmlformats.org/officeDocument/2006/relationships/image" Target="../media/image19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19.png"/><Relationship Id="rId14" Type="http://schemas.openxmlformats.org/officeDocument/2006/relationships/image" Target="../media/image19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19.png"/><Relationship Id="rId19" Type="http://schemas.openxmlformats.org/officeDocument/2006/relationships/image" Target="../media/image27.png"/><Relationship Id="rId20" Type="http://schemas.openxmlformats.org/officeDocument/2006/relationships/image" Target="../media/image19.png"/><Relationship Id="rId21" Type="http://schemas.openxmlformats.org/officeDocument/2006/relationships/image" Target="../media/image28.png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19.png"/><Relationship Id="rId14" Type="http://schemas.openxmlformats.org/officeDocument/2006/relationships/image" Target="../media/image19.png"/><Relationship Id="rId15" Type="http://schemas.openxmlformats.org/officeDocument/2006/relationships/image" Target="../media/image24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19.png"/><Relationship Id="rId19" Type="http://schemas.openxmlformats.org/officeDocument/2006/relationships/image" Target="../media/image28.png"/><Relationship Id="rId20" Type="http://schemas.openxmlformats.org/officeDocument/2006/relationships/image" Target="../media/image26.png"/><Relationship Id="rId21" Type="http://schemas.openxmlformats.org/officeDocument/2006/relationships/image" Target="../media/image19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slideLayout" Target="../slideLayouts/slideLayout3.xml"/><Relationship Id="rId2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2.png"/><Relationship Id="rId12" Type="http://schemas.openxmlformats.org/officeDocument/2006/relationships/slideLayout" Target="../slideLayouts/slideLayout3.xml"/><Relationship Id="rId13" Type="http://schemas.openxmlformats.org/officeDocument/2006/relationships/comments" Target="../comments/comment10.xml"/><Relationship Id="rId1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slideLayout" Target="../slideLayouts/slideLayout3.xml"/><Relationship Id="rId8" Type="http://schemas.openxmlformats.org/officeDocument/2006/relationships/comments" Target="../comments/comment11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slideLayout" Target="../slideLayouts/slideLayout3.xml"/><Relationship Id="rId8" Type="http://schemas.openxmlformats.org/officeDocument/2006/relationships/comments" Target="../comments/comment13.xml"/><Relationship Id="rId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3.xml"/><Relationship Id="rId3" Type="http://schemas.openxmlformats.org/officeDocument/2006/relationships/comments" Target="../comments/comment14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62.png"/><Relationship Id="rId5" Type="http://schemas.openxmlformats.org/officeDocument/2006/relationships/image" Target="../media/image7.png"/><Relationship Id="rId6" Type="http://schemas.openxmlformats.org/officeDocument/2006/relationships/image" Target="../media/image63.png"/><Relationship Id="rId7" Type="http://schemas.openxmlformats.org/officeDocument/2006/relationships/image" Target="../media/image8.png"/><Relationship Id="rId8" Type="http://schemas.openxmlformats.org/officeDocument/2006/relationships/image" Target="../media/image64.png"/><Relationship Id="rId9" Type="http://schemas.openxmlformats.org/officeDocument/2006/relationships/image" Target="../media/image9.png"/><Relationship Id="rId10" Type="http://schemas.openxmlformats.org/officeDocument/2006/relationships/image" Target="../media/image65.png"/><Relationship Id="rId11" Type="http://schemas.openxmlformats.org/officeDocument/2006/relationships/image" Target="../media/image10.png"/><Relationship Id="rId12" Type="http://schemas.openxmlformats.org/officeDocument/2006/relationships/image" Target="../media/image59.png"/><Relationship Id="rId13" Type="http://schemas.openxmlformats.org/officeDocument/2006/relationships/image" Target="../media/image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4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8.png"/><Relationship Id="rId6" Type="http://schemas.openxmlformats.org/officeDocument/2006/relationships/image" Target="../media/image64.png"/><Relationship Id="rId7" Type="http://schemas.openxmlformats.org/officeDocument/2006/relationships/image" Target="../media/image9.png"/><Relationship Id="rId8" Type="http://schemas.openxmlformats.org/officeDocument/2006/relationships/image" Target="../media/image65.png"/><Relationship Id="rId9" Type="http://schemas.openxmlformats.org/officeDocument/2006/relationships/image" Target="../media/image10.png"/><Relationship Id="rId10" Type="http://schemas.openxmlformats.org/officeDocument/2006/relationships/image" Target="../media/image59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3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65.png"/><Relationship Id="rId4" Type="http://schemas.openxmlformats.org/officeDocument/2006/relationships/slideLayout" Target="../slideLayouts/slideLayout3.xml"/><Relationship Id="rId5" Type="http://schemas.openxmlformats.org/officeDocument/2006/relationships/comments" Target="../comments/comment17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8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3.xml"/><Relationship Id="rId3" Type="http://schemas.openxmlformats.org/officeDocument/2006/relationships/comments" Target="../comments/comment2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image" Target="../media/image7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slideLayout" Target="../slideLayouts/slideLayout3.xml"/><Relationship Id="rId4" Type="http://schemas.openxmlformats.org/officeDocument/2006/relationships/comments" Target="../comments/comment23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3.xml"/><Relationship Id="rId3" Type="http://schemas.openxmlformats.org/officeDocument/2006/relationships/comments" Target="../comments/comment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  <a:ea typeface="Arial"/>
              </a:rPr>
              <a:t>Altermagnets </a:t>
            </a:r>
            <a:br>
              <a:rPr sz="5200"/>
            </a:br>
            <a:r>
              <a:rPr b="0" lang="en-US" sz="5200" spc="-1" strike="noStrike">
                <a:solidFill>
                  <a:srgbClr val="000000"/>
                </a:solidFill>
                <a:latin typeface="Arial"/>
                <a:ea typeface="Arial"/>
              </a:rPr>
              <a:t>and spin liquids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9144000" y="2400840"/>
            <a:ext cx="3006000" cy="39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1064" lnSpcReduction="2000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595959"/>
                </a:solidFill>
                <a:latin typeface="Arial"/>
                <a:ea typeface="Arial"/>
              </a:rPr>
              <a:t>From neighboring and altermagnetic spin liquids to spin-symmetric band splitting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56;p13"/>
          <p:cNvSpPr/>
          <p:nvPr/>
        </p:nvSpPr>
        <p:spPr>
          <a:xfrm>
            <a:off x="2170080" y="2797200"/>
            <a:ext cx="480312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4285f4"/>
                </a:solidFill>
                <a:latin typeface="Arial"/>
                <a:ea typeface="Arial"/>
              </a:rPr>
              <a:t>Hauptseminar talk by Jonas Scheunemann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57;p13"/>
          <p:cNvSpPr/>
          <p:nvPr/>
        </p:nvSpPr>
        <p:spPr>
          <a:xfrm>
            <a:off x="7145640" y="4722120"/>
            <a:ext cx="159516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595959"/>
                </a:solidFill>
                <a:latin typeface="Arial"/>
                <a:ea typeface="Arial"/>
              </a:rPr>
              <a:t>1) Sobrata, Mandel, Scheurer, 2024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Google Shape;58;p13"/>
          <p:cNvSpPr/>
          <p:nvPr/>
        </p:nvSpPr>
        <p:spPr>
          <a:xfrm>
            <a:off x="2616480" y="3218400"/>
            <a:ext cx="3911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95959"/>
                </a:solidFill>
                <a:latin typeface="Arial"/>
                <a:ea typeface="Arial"/>
              </a:rPr>
              <a:t>Supervisors: Prof. Scheurer &amp; MSc. Putzer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Google Shape;59;p13"/>
          <p:cNvSpPr/>
          <p:nvPr/>
        </p:nvSpPr>
        <p:spPr>
          <a:xfrm>
            <a:off x="6781320" y="1986480"/>
            <a:ext cx="159516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595959"/>
                </a:solidFill>
                <a:latin typeface="Arial"/>
                <a:ea typeface="Arial"/>
              </a:rPr>
              <a:t>1)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From Altermagnets to Spin Liquids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83516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We now know a lot about ordered altermagnets (P1-P11)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ARPES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magnons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topology in band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What happens when frustration + quantum </a:t>
            </a: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fluctuations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destroy spin order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Does altermagnetic character survive </a:t>
            </a:r>
            <a:br>
              <a:rPr sz="1300"/>
            </a:b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in a phase with no spin order?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35CA23-D9BC-4B59-BFB2-9D65063FB4B4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" name="Google Shape;67;p14" descr=""/>
          <p:cNvPicPr/>
          <p:nvPr/>
        </p:nvPicPr>
        <p:blipFill>
          <a:blip r:embed="rId1"/>
          <a:stretch/>
        </p:blipFill>
        <p:spPr>
          <a:xfrm>
            <a:off x="4532400" y="1446840"/>
            <a:ext cx="4299480" cy="295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oogle Shape;73;p15" descr=""/>
          <p:cNvPicPr/>
          <p:nvPr/>
        </p:nvPicPr>
        <p:blipFill>
          <a:blip r:embed="rId1"/>
          <a:stretch/>
        </p:blipFill>
        <p:spPr>
          <a:xfrm>
            <a:off x="462240" y="1316880"/>
            <a:ext cx="3593880" cy="127944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74;p15" descr=""/>
          <p:cNvPicPr/>
          <p:nvPr/>
        </p:nvPicPr>
        <p:blipFill>
          <a:blip r:embed="rId2"/>
          <a:stretch/>
        </p:blipFill>
        <p:spPr>
          <a:xfrm>
            <a:off x="5109480" y="1316880"/>
            <a:ext cx="3303000" cy="308736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B44BE9-35F2-40AC-B292-064CB09FC71F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311760" y="2571840"/>
            <a:ext cx="4797720" cy="199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Two sublattices A/B related by C4​, not translation →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altermagnetic symmetry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-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J2 and K introduce frustration and competing orders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Phase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36A5A0-85BF-48FD-A561-7C41326E916A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" name="Google Shape;83;p16" descr=""/>
          <p:cNvPicPr/>
          <p:nvPr/>
        </p:nvPicPr>
        <p:blipFill>
          <a:blip r:embed="rId1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grpSp>
        <p:nvGrpSpPr>
          <p:cNvPr id="36" name="Google Shape;84;p16"/>
          <p:cNvGrpSpPr/>
          <p:nvPr/>
        </p:nvGrpSpPr>
        <p:grpSpPr>
          <a:xfrm>
            <a:off x="230760" y="979200"/>
            <a:ext cx="8505360" cy="3968280"/>
            <a:chOff x="230760" y="979200"/>
            <a:chExt cx="8505360" cy="3968280"/>
          </a:xfrm>
        </p:grpSpPr>
        <p:pic>
          <p:nvPicPr>
            <p:cNvPr id="37" name="Google Shape;85;p16" descr=""/>
            <p:cNvPicPr/>
            <p:nvPr/>
          </p:nvPicPr>
          <p:blipFill>
            <a:blip r:embed="rId2"/>
            <a:stretch/>
          </p:blipFill>
          <p:spPr>
            <a:xfrm>
              <a:off x="1765800" y="979200"/>
              <a:ext cx="1534680" cy="127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8" name="Google Shape;86;p16" descr=""/>
            <p:cNvPicPr/>
            <p:nvPr/>
          </p:nvPicPr>
          <p:blipFill>
            <a:blip r:embed="rId3"/>
            <a:stretch/>
          </p:blipFill>
          <p:spPr>
            <a:xfrm>
              <a:off x="230760" y="2403360"/>
              <a:ext cx="1534680" cy="127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" name="Google Shape;87;p16" descr=""/>
            <p:cNvPicPr/>
            <p:nvPr/>
          </p:nvPicPr>
          <p:blipFill>
            <a:blip r:embed="rId4"/>
            <a:stretch/>
          </p:blipFill>
          <p:spPr>
            <a:xfrm>
              <a:off x="2141280" y="3663000"/>
              <a:ext cx="1415880" cy="127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" name="Google Shape;88;p16" descr=""/>
            <p:cNvPicPr/>
            <p:nvPr/>
          </p:nvPicPr>
          <p:blipFill>
            <a:blip r:embed="rId5"/>
            <a:stretch/>
          </p:blipFill>
          <p:spPr>
            <a:xfrm>
              <a:off x="6045120" y="979200"/>
              <a:ext cx="1504080" cy="127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89;p16" descr=""/>
            <p:cNvPicPr/>
            <p:nvPr/>
          </p:nvPicPr>
          <p:blipFill>
            <a:blip r:embed="rId6"/>
            <a:stretch/>
          </p:blipFill>
          <p:spPr>
            <a:xfrm>
              <a:off x="7201440" y="2404800"/>
              <a:ext cx="1534680" cy="1270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" name="Google Shape;90;p16" descr=""/>
            <p:cNvPicPr/>
            <p:nvPr/>
          </p:nvPicPr>
          <p:blipFill>
            <a:blip r:embed="rId7"/>
            <a:stretch/>
          </p:blipFill>
          <p:spPr>
            <a:xfrm>
              <a:off x="5262840" y="3677040"/>
              <a:ext cx="1534680" cy="1270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" name="Google Shape;91;p16"/>
            <p:cNvSpPr/>
            <p:nvPr/>
          </p:nvSpPr>
          <p:spPr>
            <a:xfrm rot="10800000">
              <a:off x="4790520" y="2714760"/>
              <a:ext cx="472320" cy="1597680"/>
            </a:xfrm>
            <a:prstGeom prst="curvedConnector2">
              <a:avLst/>
            </a:prstGeom>
            <a:noFill/>
            <a:ln w="9360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Google Shape;92;p16"/>
            <p:cNvSpPr/>
            <p:nvPr/>
          </p:nvSpPr>
          <p:spPr>
            <a:xfrm flipH="1" rot="10800000">
              <a:off x="1764720" y="2268000"/>
              <a:ext cx="1510200" cy="898560"/>
            </a:xfrm>
            <a:prstGeom prst="curvedConnector3">
              <a:avLst>
                <a:gd name="adj1" fmla="val 50000"/>
              </a:avLst>
            </a:prstGeom>
            <a:noFill/>
            <a:ln w="9360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4260960" y="1183320"/>
            <a:ext cx="44150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Scalar spin chiralities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→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 symmetry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Observables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44150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NN scalar products on a plaquette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→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C4 symmetry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7DEB44-9F23-4333-BE4F-B3D885D1464C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9" name="Google Shape;101;p17"/>
          <p:cNvGrpSpPr/>
          <p:nvPr/>
        </p:nvGrpSpPr>
        <p:grpSpPr>
          <a:xfrm>
            <a:off x="5330520" y="2468880"/>
            <a:ext cx="2609640" cy="2333160"/>
            <a:chOff x="5330520" y="2468880"/>
            <a:chExt cx="2609640" cy="2333160"/>
          </a:xfrm>
        </p:grpSpPr>
        <p:pic>
          <p:nvPicPr>
            <p:cNvPr id="50" name="Google Shape;102;p17" descr=""/>
            <p:cNvPicPr/>
            <p:nvPr/>
          </p:nvPicPr>
          <p:blipFill>
            <a:blip r:embed="rId1"/>
            <a:stretch/>
          </p:blipFill>
          <p:spPr>
            <a:xfrm>
              <a:off x="5330520" y="2468880"/>
              <a:ext cx="1309320" cy="2333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1" name="Google Shape;103;p17" descr=""/>
            <p:cNvPicPr/>
            <p:nvPr/>
          </p:nvPicPr>
          <p:blipFill>
            <a:blip r:embed="rId2"/>
            <a:stretch/>
          </p:blipFill>
          <p:spPr>
            <a:xfrm>
              <a:off x="6994800" y="3823200"/>
              <a:ext cx="945360" cy="393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52" name="Google Shape;104;p17" descr=""/>
          <p:cNvPicPr/>
          <p:nvPr/>
        </p:nvPicPr>
        <p:blipFill>
          <a:blip r:embed="rId3"/>
          <a:stretch/>
        </p:blipFill>
        <p:spPr>
          <a:xfrm>
            <a:off x="887040" y="2116440"/>
            <a:ext cx="3162600" cy="308520"/>
          </a:xfrm>
          <a:prstGeom prst="rect">
            <a:avLst/>
          </a:prstGeom>
          <a:ln w="0">
            <a:noFill/>
          </a:ln>
        </p:spPr>
      </p:pic>
      <p:pic>
        <p:nvPicPr>
          <p:cNvPr id="53" name="Google Shape;105;p17" descr=""/>
          <p:cNvPicPr/>
          <p:nvPr/>
        </p:nvPicPr>
        <p:blipFill>
          <a:blip r:embed="rId4"/>
          <a:stretch/>
        </p:blipFill>
        <p:spPr>
          <a:xfrm>
            <a:off x="5346720" y="2077560"/>
            <a:ext cx="2577600" cy="308520"/>
          </a:xfrm>
          <a:prstGeom prst="rect">
            <a:avLst/>
          </a:prstGeom>
          <a:ln w="0">
            <a:noFill/>
          </a:ln>
        </p:spPr>
      </p:pic>
      <p:sp>
        <p:nvSpPr>
          <p:cNvPr id="54" name="Google Shape;106;p17"/>
          <p:cNvSpPr/>
          <p:nvPr/>
        </p:nvSpPr>
        <p:spPr>
          <a:xfrm flipH="1">
            <a:off x="4560840" y="2299320"/>
            <a:ext cx="9720" cy="1924200"/>
          </a:xfrm>
          <a:prstGeom prst="straightConnector1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107;p17" descr=""/>
          <p:cNvPicPr/>
          <p:nvPr/>
        </p:nvPicPr>
        <p:blipFill>
          <a:blip r:embed="rId5"/>
          <a:stretch/>
        </p:blipFill>
        <p:spPr>
          <a:xfrm>
            <a:off x="1580040" y="2425320"/>
            <a:ext cx="1702800" cy="159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12;p18" descr=""/>
          <p:cNvPicPr/>
          <p:nvPr/>
        </p:nvPicPr>
        <p:blipFill>
          <a:blip r:embed="rId1"/>
          <a:stretch/>
        </p:blipFill>
        <p:spPr>
          <a:xfrm>
            <a:off x="1764720" y="979200"/>
            <a:ext cx="1534680" cy="127332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988" lnSpcReduction="10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Phase Diagram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505F7A-E3A9-4173-9EB3-307DEFF291D0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9" name="Google Shape;115;p18" descr=""/>
          <p:cNvPicPr/>
          <p:nvPr/>
        </p:nvPicPr>
        <p:blipFill>
          <a:blip r:embed="rId2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16;p18" descr=""/>
          <p:cNvPicPr/>
          <p:nvPr/>
        </p:nvPicPr>
        <p:blipFill>
          <a:blip r:embed="rId3"/>
          <a:stretch/>
        </p:blipFill>
        <p:spPr>
          <a:xfrm>
            <a:off x="230760" y="240336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61" name="Google Shape;117;p18" descr=""/>
          <p:cNvPicPr/>
          <p:nvPr/>
        </p:nvPicPr>
        <p:blipFill>
          <a:blip r:embed="rId4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118;p18" descr=""/>
          <p:cNvPicPr/>
          <p:nvPr/>
        </p:nvPicPr>
        <p:blipFill>
          <a:blip r:embed="rId5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119;p18" descr=""/>
          <p:cNvPicPr/>
          <p:nvPr/>
        </p:nvPicPr>
        <p:blipFill>
          <a:blip r:embed="rId6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64" name="Google Shape;120;p18" descr=""/>
          <p:cNvPicPr/>
          <p:nvPr/>
        </p:nvPicPr>
        <p:blipFill>
          <a:blip r:embed="rId7"/>
          <a:stretch/>
        </p:blipFill>
        <p:spPr>
          <a:xfrm>
            <a:off x="5262840" y="3677040"/>
            <a:ext cx="1534680" cy="127044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21;p18"/>
          <p:cNvSpPr/>
          <p:nvPr/>
        </p:nvSpPr>
        <p:spPr>
          <a:xfrm rot="10800000">
            <a:off x="4790520" y="271476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22;p18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1637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Google Shape;123;p18" descr=""/>
          <p:cNvPicPr/>
          <p:nvPr/>
        </p:nvPicPr>
        <p:blipFill>
          <a:blip r:embed="rId8"/>
          <a:stretch/>
        </p:blipFill>
        <p:spPr>
          <a:xfrm>
            <a:off x="1768680" y="98028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124;p18" descr=""/>
          <p:cNvPicPr/>
          <p:nvPr/>
        </p:nvPicPr>
        <p:blipFill>
          <a:blip r:embed="rId9"/>
          <a:stretch/>
        </p:blipFill>
        <p:spPr>
          <a:xfrm>
            <a:off x="3880440" y="1140840"/>
            <a:ext cx="333360" cy="285840"/>
          </a:xfrm>
          <a:prstGeom prst="rect">
            <a:avLst/>
          </a:prstGeom>
          <a:ln w="0">
            <a:noFill/>
          </a:ln>
        </p:spPr>
      </p:pic>
      <p:pic>
        <p:nvPicPr>
          <p:cNvPr id="69" name="Google Shape;125;p18" descr=""/>
          <p:cNvPicPr/>
          <p:nvPr/>
        </p:nvPicPr>
        <p:blipFill>
          <a:blip r:embed="rId10"/>
          <a:stretch/>
        </p:blipFill>
        <p:spPr>
          <a:xfrm>
            <a:off x="4423680" y="1140840"/>
            <a:ext cx="838800" cy="344520"/>
          </a:xfrm>
          <a:prstGeom prst="rect">
            <a:avLst/>
          </a:prstGeom>
          <a:ln w="0">
            <a:noFill/>
          </a:ln>
        </p:spPr>
      </p:pic>
      <p:pic>
        <p:nvPicPr>
          <p:cNvPr id="70" name="Google Shape;126;p18" descr=""/>
          <p:cNvPicPr/>
          <p:nvPr/>
        </p:nvPicPr>
        <p:blipFill>
          <a:blip r:embed="rId11"/>
          <a:stretch/>
        </p:blipFill>
        <p:spPr>
          <a:xfrm>
            <a:off x="466560" y="119340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127;p18" descr=""/>
          <p:cNvPicPr/>
          <p:nvPr/>
        </p:nvPicPr>
        <p:blipFill>
          <a:blip r:embed="rId12"/>
          <a:stretch/>
        </p:blipFill>
        <p:spPr>
          <a:xfrm>
            <a:off x="46656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28;p18" descr=""/>
          <p:cNvPicPr/>
          <p:nvPr/>
        </p:nvPicPr>
        <p:blipFill>
          <a:blip r:embed="rId13"/>
          <a:stretch/>
        </p:blipFill>
        <p:spPr>
          <a:xfrm>
            <a:off x="1745280" y="97452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73" name="Google Shape;129;p18" descr=""/>
          <p:cNvPicPr/>
          <p:nvPr/>
        </p:nvPicPr>
        <p:blipFill>
          <a:blip r:embed="rId14"/>
          <a:stretch/>
        </p:blipFill>
        <p:spPr>
          <a:xfrm>
            <a:off x="1752480" y="97200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74" name="Google Shape;130;p18" descr=""/>
          <p:cNvPicPr/>
          <p:nvPr/>
        </p:nvPicPr>
        <p:blipFill>
          <a:blip r:embed="rId15"/>
          <a:stretch/>
        </p:blipFill>
        <p:spPr>
          <a:xfrm>
            <a:off x="1768680" y="97200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75" name="Google Shape;131;p18" descr=""/>
          <p:cNvPicPr/>
          <p:nvPr/>
        </p:nvPicPr>
        <p:blipFill>
          <a:blip r:embed="rId16"/>
          <a:stretch/>
        </p:blipFill>
        <p:spPr>
          <a:xfrm>
            <a:off x="2043360" y="2701800"/>
            <a:ext cx="1333080" cy="181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32;p18" descr=""/>
          <p:cNvPicPr/>
          <p:nvPr/>
        </p:nvPicPr>
        <p:blipFill>
          <a:blip r:embed="rId17"/>
          <a:stretch/>
        </p:blipFill>
        <p:spPr>
          <a:xfrm>
            <a:off x="2043360" y="2985120"/>
            <a:ext cx="1154880" cy="18144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33;p18"/>
          <p:cNvSpPr/>
          <p:nvPr/>
        </p:nvSpPr>
        <p:spPr>
          <a:xfrm>
            <a:off x="335880" y="1710360"/>
            <a:ext cx="14158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34;p18"/>
          <p:cNvSpPr/>
          <p:nvPr/>
        </p:nvSpPr>
        <p:spPr>
          <a:xfrm>
            <a:off x="1804680" y="3180600"/>
            <a:ext cx="14158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5;p18"/>
          <p:cNvSpPr/>
          <p:nvPr/>
        </p:nvSpPr>
        <p:spPr>
          <a:xfrm>
            <a:off x="725040" y="4463640"/>
            <a:ext cx="14158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36;p18"/>
          <p:cNvSpPr/>
          <p:nvPr/>
        </p:nvSpPr>
        <p:spPr>
          <a:xfrm>
            <a:off x="7549560" y="1972080"/>
            <a:ext cx="14158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41;p19" descr=""/>
          <p:cNvPicPr/>
          <p:nvPr/>
        </p:nvPicPr>
        <p:blipFill>
          <a:blip r:embed="rId1"/>
          <a:stretch/>
        </p:blipFill>
        <p:spPr>
          <a:xfrm>
            <a:off x="1764720" y="979200"/>
            <a:ext cx="1534680" cy="127332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Phase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A3EB36-8D08-4DE3-8888-8ECBB345AA95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4" name="Google Shape;144;p19" descr=""/>
          <p:cNvPicPr/>
          <p:nvPr/>
        </p:nvPicPr>
        <p:blipFill>
          <a:blip r:embed="rId2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45;p19" descr=""/>
          <p:cNvPicPr/>
          <p:nvPr/>
        </p:nvPicPr>
        <p:blipFill>
          <a:blip r:embed="rId3"/>
          <a:stretch/>
        </p:blipFill>
        <p:spPr>
          <a:xfrm>
            <a:off x="230760" y="240336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46;p19" descr=""/>
          <p:cNvPicPr/>
          <p:nvPr/>
        </p:nvPicPr>
        <p:blipFill>
          <a:blip r:embed="rId4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9" descr=""/>
          <p:cNvPicPr/>
          <p:nvPr/>
        </p:nvPicPr>
        <p:blipFill>
          <a:blip r:embed="rId5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148;p19" descr=""/>
          <p:cNvPicPr/>
          <p:nvPr/>
        </p:nvPicPr>
        <p:blipFill>
          <a:blip r:embed="rId6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49;p19" descr=""/>
          <p:cNvPicPr/>
          <p:nvPr/>
        </p:nvPicPr>
        <p:blipFill>
          <a:blip r:embed="rId7"/>
          <a:stretch/>
        </p:blipFill>
        <p:spPr>
          <a:xfrm>
            <a:off x="5262840" y="3677040"/>
            <a:ext cx="1606320" cy="132948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150;p19"/>
          <p:cNvSpPr/>
          <p:nvPr/>
        </p:nvSpPr>
        <p:spPr>
          <a:xfrm rot="10800000">
            <a:off x="4790520" y="274428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151;p19" descr=""/>
          <p:cNvPicPr/>
          <p:nvPr/>
        </p:nvPicPr>
        <p:blipFill>
          <a:blip r:embed="rId8"/>
          <a:stretch/>
        </p:blipFill>
        <p:spPr>
          <a:xfrm>
            <a:off x="3880440" y="1140840"/>
            <a:ext cx="333360" cy="28584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152;p19" descr=""/>
          <p:cNvPicPr/>
          <p:nvPr/>
        </p:nvPicPr>
        <p:blipFill>
          <a:blip r:embed="rId9"/>
          <a:stretch/>
        </p:blipFill>
        <p:spPr>
          <a:xfrm>
            <a:off x="4423680" y="1140840"/>
            <a:ext cx="838800" cy="34452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53;p19" descr=""/>
          <p:cNvPicPr/>
          <p:nvPr/>
        </p:nvPicPr>
        <p:blipFill>
          <a:blip r:embed="rId10"/>
          <a:stretch/>
        </p:blipFill>
        <p:spPr>
          <a:xfrm>
            <a:off x="466560" y="119340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54;p19" descr=""/>
          <p:cNvPicPr/>
          <p:nvPr/>
        </p:nvPicPr>
        <p:blipFill>
          <a:blip r:embed="rId11"/>
          <a:stretch/>
        </p:blipFill>
        <p:spPr>
          <a:xfrm>
            <a:off x="46656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55;p19" descr=""/>
          <p:cNvPicPr/>
          <p:nvPr/>
        </p:nvPicPr>
        <p:blipFill>
          <a:blip r:embed="rId12"/>
          <a:stretch/>
        </p:blipFill>
        <p:spPr>
          <a:xfrm>
            <a:off x="2043360" y="2701800"/>
            <a:ext cx="1333080" cy="18144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56;p19" descr=""/>
          <p:cNvPicPr/>
          <p:nvPr/>
        </p:nvPicPr>
        <p:blipFill>
          <a:blip r:embed="rId13"/>
          <a:stretch/>
        </p:blipFill>
        <p:spPr>
          <a:xfrm>
            <a:off x="2043360" y="2985120"/>
            <a:ext cx="1154880" cy="18144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57;p19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1637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oogle Shape;158;p19" descr=""/>
          <p:cNvPicPr/>
          <p:nvPr/>
        </p:nvPicPr>
        <p:blipFill>
          <a:blip r:embed="rId14"/>
          <a:stretch/>
        </p:blipFill>
        <p:spPr>
          <a:xfrm>
            <a:off x="983160" y="429984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159;p19" descr=""/>
          <p:cNvPicPr/>
          <p:nvPr/>
        </p:nvPicPr>
        <p:blipFill>
          <a:blip r:embed="rId15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60;p19" descr=""/>
          <p:cNvPicPr/>
          <p:nvPr/>
        </p:nvPicPr>
        <p:blipFill>
          <a:blip r:embed="rId16"/>
          <a:stretch/>
        </p:blipFill>
        <p:spPr>
          <a:xfrm>
            <a:off x="1008000" y="3992040"/>
            <a:ext cx="1035000" cy="18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65;p20" descr=""/>
          <p:cNvPicPr/>
          <p:nvPr/>
        </p:nvPicPr>
        <p:blipFill>
          <a:blip r:embed="rId1"/>
          <a:stretch/>
        </p:blipFill>
        <p:spPr>
          <a:xfrm>
            <a:off x="1764720" y="979200"/>
            <a:ext cx="1534680" cy="127332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Phase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3ED420-41FB-4A24-B26F-D4020F44C89E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4" name="Google Shape;168;p20" descr=""/>
          <p:cNvPicPr/>
          <p:nvPr/>
        </p:nvPicPr>
        <p:blipFill>
          <a:blip r:embed="rId2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169;p20" descr=""/>
          <p:cNvPicPr/>
          <p:nvPr/>
        </p:nvPicPr>
        <p:blipFill>
          <a:blip r:embed="rId3"/>
          <a:stretch/>
        </p:blipFill>
        <p:spPr>
          <a:xfrm>
            <a:off x="230760" y="240336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170;p20" descr=""/>
          <p:cNvPicPr/>
          <p:nvPr/>
        </p:nvPicPr>
        <p:blipFill>
          <a:blip r:embed="rId4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107" name="Google Shape;171;p20" descr=""/>
          <p:cNvPicPr/>
          <p:nvPr/>
        </p:nvPicPr>
        <p:blipFill>
          <a:blip r:embed="rId5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72;p20" descr=""/>
          <p:cNvPicPr/>
          <p:nvPr/>
        </p:nvPicPr>
        <p:blipFill>
          <a:blip r:embed="rId6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73;p20" descr=""/>
          <p:cNvPicPr/>
          <p:nvPr/>
        </p:nvPicPr>
        <p:blipFill>
          <a:blip r:embed="rId7"/>
          <a:stretch/>
        </p:blipFill>
        <p:spPr>
          <a:xfrm>
            <a:off x="5262840" y="3677040"/>
            <a:ext cx="1534680" cy="127044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74;p20"/>
          <p:cNvSpPr/>
          <p:nvPr/>
        </p:nvSpPr>
        <p:spPr>
          <a:xfrm rot="10800000">
            <a:off x="4790520" y="271476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Google Shape;175;p20" descr=""/>
          <p:cNvPicPr/>
          <p:nvPr/>
        </p:nvPicPr>
        <p:blipFill>
          <a:blip r:embed="rId8"/>
          <a:stretch/>
        </p:blipFill>
        <p:spPr>
          <a:xfrm>
            <a:off x="3880440" y="1140840"/>
            <a:ext cx="333360" cy="28584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76;p20" descr=""/>
          <p:cNvPicPr/>
          <p:nvPr/>
        </p:nvPicPr>
        <p:blipFill>
          <a:blip r:embed="rId9"/>
          <a:stretch/>
        </p:blipFill>
        <p:spPr>
          <a:xfrm>
            <a:off x="4423680" y="1140840"/>
            <a:ext cx="838800" cy="344520"/>
          </a:xfrm>
          <a:prstGeom prst="rect">
            <a:avLst/>
          </a:prstGeom>
          <a:ln w="0">
            <a:noFill/>
          </a:ln>
        </p:spPr>
      </p:pic>
      <p:pic>
        <p:nvPicPr>
          <p:cNvPr id="113" name="Google Shape;177;p20" descr=""/>
          <p:cNvPicPr/>
          <p:nvPr/>
        </p:nvPicPr>
        <p:blipFill>
          <a:blip r:embed="rId10"/>
          <a:stretch/>
        </p:blipFill>
        <p:spPr>
          <a:xfrm>
            <a:off x="466560" y="119340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78;p20" descr=""/>
          <p:cNvPicPr/>
          <p:nvPr/>
        </p:nvPicPr>
        <p:blipFill>
          <a:blip r:embed="rId11"/>
          <a:stretch/>
        </p:blipFill>
        <p:spPr>
          <a:xfrm>
            <a:off x="46656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79;p20" descr=""/>
          <p:cNvPicPr/>
          <p:nvPr/>
        </p:nvPicPr>
        <p:blipFill>
          <a:blip r:embed="rId12"/>
          <a:stretch/>
        </p:blipFill>
        <p:spPr>
          <a:xfrm>
            <a:off x="2043360" y="2701800"/>
            <a:ext cx="1333080" cy="181440"/>
          </a:xfrm>
          <a:prstGeom prst="rect">
            <a:avLst/>
          </a:prstGeom>
          <a:ln w="0">
            <a:noFill/>
          </a:ln>
        </p:spPr>
      </p:pic>
      <p:pic>
        <p:nvPicPr>
          <p:cNvPr id="116" name="Google Shape;180;p20" descr=""/>
          <p:cNvPicPr/>
          <p:nvPr/>
        </p:nvPicPr>
        <p:blipFill>
          <a:blip r:embed="rId13"/>
          <a:stretch/>
        </p:blipFill>
        <p:spPr>
          <a:xfrm>
            <a:off x="2043360" y="2985120"/>
            <a:ext cx="1154880" cy="181440"/>
          </a:xfrm>
          <a:prstGeom prst="rect">
            <a:avLst/>
          </a:prstGeom>
          <a:ln w="0">
            <a:noFill/>
          </a:ln>
        </p:spPr>
      </p:pic>
      <p:sp>
        <p:nvSpPr>
          <p:cNvPr id="117" name="Google Shape;181;p20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1637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82;p20" descr=""/>
          <p:cNvPicPr/>
          <p:nvPr/>
        </p:nvPicPr>
        <p:blipFill>
          <a:blip r:embed="rId14"/>
          <a:stretch/>
        </p:blipFill>
        <p:spPr>
          <a:xfrm>
            <a:off x="983160" y="429984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19" name="Google Shape;183;p20" descr=""/>
          <p:cNvPicPr/>
          <p:nvPr/>
        </p:nvPicPr>
        <p:blipFill>
          <a:blip r:embed="rId15"/>
          <a:stretch/>
        </p:blipFill>
        <p:spPr>
          <a:xfrm>
            <a:off x="1008000" y="3992040"/>
            <a:ext cx="1035000" cy="181440"/>
          </a:xfrm>
          <a:prstGeom prst="rect">
            <a:avLst/>
          </a:prstGeom>
          <a:ln w="0">
            <a:noFill/>
          </a:ln>
        </p:spPr>
      </p:pic>
      <p:pic>
        <p:nvPicPr>
          <p:cNvPr id="120" name="Google Shape;184;p20" descr=""/>
          <p:cNvPicPr/>
          <p:nvPr/>
        </p:nvPicPr>
        <p:blipFill>
          <a:blip r:embed="rId16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121" name="Google Shape;185;p20" descr=""/>
          <p:cNvPicPr/>
          <p:nvPr/>
        </p:nvPicPr>
        <p:blipFill>
          <a:blip r:embed="rId17"/>
          <a:stretch/>
        </p:blipFill>
        <p:spPr>
          <a:xfrm>
            <a:off x="7549560" y="1193400"/>
            <a:ext cx="1154520" cy="14400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186;p20" descr=""/>
          <p:cNvPicPr/>
          <p:nvPr/>
        </p:nvPicPr>
        <p:blipFill>
          <a:blip r:embed="rId18"/>
          <a:stretch/>
        </p:blipFill>
        <p:spPr>
          <a:xfrm>
            <a:off x="752688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187;p20" descr=""/>
          <p:cNvPicPr/>
          <p:nvPr/>
        </p:nvPicPr>
        <p:blipFill>
          <a:blip r:embed="rId19"/>
          <a:stretch/>
        </p:blipFill>
        <p:spPr>
          <a:xfrm>
            <a:off x="7201440" y="24102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188;p20" descr=""/>
          <p:cNvPicPr/>
          <p:nvPr/>
        </p:nvPicPr>
        <p:blipFill>
          <a:blip r:embed="rId20"/>
          <a:stretch/>
        </p:blipFill>
        <p:spPr>
          <a:xfrm>
            <a:off x="5990760" y="287388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25" name="Google Shape;189;p20" descr=""/>
          <p:cNvPicPr/>
          <p:nvPr/>
        </p:nvPicPr>
        <p:blipFill>
          <a:blip r:embed="rId21"/>
          <a:stretch/>
        </p:blipFill>
        <p:spPr>
          <a:xfrm>
            <a:off x="6013440" y="2701800"/>
            <a:ext cx="1154880" cy="14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94;p21" descr=""/>
          <p:cNvPicPr/>
          <p:nvPr/>
        </p:nvPicPr>
        <p:blipFill>
          <a:blip r:embed="rId1"/>
          <a:stretch/>
        </p:blipFill>
        <p:spPr>
          <a:xfrm>
            <a:off x="5262840" y="367704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195;p21" descr=""/>
          <p:cNvPicPr/>
          <p:nvPr/>
        </p:nvPicPr>
        <p:blipFill>
          <a:blip r:embed="rId2"/>
          <a:stretch/>
        </p:blipFill>
        <p:spPr>
          <a:xfrm>
            <a:off x="1764720" y="979200"/>
            <a:ext cx="1534680" cy="127332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Phase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2D1B6A-C73D-4951-A316-F4A19C74900F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0" name="Google Shape;198;p21" descr=""/>
          <p:cNvPicPr/>
          <p:nvPr/>
        </p:nvPicPr>
        <p:blipFill>
          <a:blip r:embed="rId3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131" name="Google Shape;199;p21" descr=""/>
          <p:cNvPicPr/>
          <p:nvPr/>
        </p:nvPicPr>
        <p:blipFill>
          <a:blip r:embed="rId4"/>
          <a:stretch/>
        </p:blipFill>
        <p:spPr>
          <a:xfrm>
            <a:off x="230760" y="240336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00;p21" descr=""/>
          <p:cNvPicPr/>
          <p:nvPr/>
        </p:nvPicPr>
        <p:blipFill>
          <a:blip r:embed="rId5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133" name="Google Shape;201;p21" descr=""/>
          <p:cNvPicPr/>
          <p:nvPr/>
        </p:nvPicPr>
        <p:blipFill>
          <a:blip r:embed="rId6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202;p21" descr=""/>
          <p:cNvPicPr/>
          <p:nvPr/>
        </p:nvPicPr>
        <p:blipFill>
          <a:blip r:embed="rId7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sp>
        <p:nvSpPr>
          <p:cNvPr id="135" name="Google Shape;203;p21"/>
          <p:cNvSpPr/>
          <p:nvPr/>
        </p:nvSpPr>
        <p:spPr>
          <a:xfrm rot="10800000">
            <a:off x="4790520" y="271476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Google Shape;204;p21" descr=""/>
          <p:cNvPicPr/>
          <p:nvPr/>
        </p:nvPicPr>
        <p:blipFill>
          <a:blip r:embed="rId8"/>
          <a:stretch/>
        </p:blipFill>
        <p:spPr>
          <a:xfrm>
            <a:off x="3880440" y="1140840"/>
            <a:ext cx="333360" cy="28584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205;p21" descr=""/>
          <p:cNvPicPr/>
          <p:nvPr/>
        </p:nvPicPr>
        <p:blipFill>
          <a:blip r:embed="rId9"/>
          <a:stretch/>
        </p:blipFill>
        <p:spPr>
          <a:xfrm>
            <a:off x="4423680" y="1140840"/>
            <a:ext cx="838800" cy="34452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206;p21" descr=""/>
          <p:cNvPicPr/>
          <p:nvPr/>
        </p:nvPicPr>
        <p:blipFill>
          <a:blip r:embed="rId10"/>
          <a:stretch/>
        </p:blipFill>
        <p:spPr>
          <a:xfrm>
            <a:off x="466560" y="119340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207;p21" descr=""/>
          <p:cNvPicPr/>
          <p:nvPr/>
        </p:nvPicPr>
        <p:blipFill>
          <a:blip r:embed="rId11"/>
          <a:stretch/>
        </p:blipFill>
        <p:spPr>
          <a:xfrm>
            <a:off x="46656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40" name="Google Shape;208;p21" descr=""/>
          <p:cNvPicPr/>
          <p:nvPr/>
        </p:nvPicPr>
        <p:blipFill>
          <a:blip r:embed="rId12"/>
          <a:stretch/>
        </p:blipFill>
        <p:spPr>
          <a:xfrm>
            <a:off x="2043360" y="2701800"/>
            <a:ext cx="1333080" cy="181440"/>
          </a:xfrm>
          <a:prstGeom prst="rect">
            <a:avLst/>
          </a:prstGeom>
          <a:ln w="0">
            <a:noFill/>
          </a:ln>
        </p:spPr>
      </p:pic>
      <p:pic>
        <p:nvPicPr>
          <p:cNvPr id="141" name="Google Shape;209;p21" descr=""/>
          <p:cNvPicPr/>
          <p:nvPr/>
        </p:nvPicPr>
        <p:blipFill>
          <a:blip r:embed="rId13"/>
          <a:stretch/>
        </p:blipFill>
        <p:spPr>
          <a:xfrm>
            <a:off x="2043360" y="2985120"/>
            <a:ext cx="1154880" cy="18144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210;p21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1637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Google Shape;211;p21" descr=""/>
          <p:cNvPicPr/>
          <p:nvPr/>
        </p:nvPicPr>
        <p:blipFill>
          <a:blip r:embed="rId14"/>
          <a:stretch/>
        </p:blipFill>
        <p:spPr>
          <a:xfrm>
            <a:off x="983160" y="429984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44" name="Google Shape;212;p21" descr=""/>
          <p:cNvPicPr/>
          <p:nvPr/>
        </p:nvPicPr>
        <p:blipFill>
          <a:blip r:embed="rId15"/>
          <a:stretch/>
        </p:blipFill>
        <p:spPr>
          <a:xfrm>
            <a:off x="1008000" y="3992040"/>
            <a:ext cx="1035000" cy="181440"/>
          </a:xfrm>
          <a:prstGeom prst="rect">
            <a:avLst/>
          </a:prstGeom>
          <a:ln w="0">
            <a:noFill/>
          </a:ln>
        </p:spPr>
      </p:pic>
      <p:pic>
        <p:nvPicPr>
          <p:cNvPr id="145" name="Google Shape;213;p21" descr=""/>
          <p:cNvPicPr/>
          <p:nvPr/>
        </p:nvPicPr>
        <p:blipFill>
          <a:blip r:embed="rId16"/>
          <a:stretch/>
        </p:blipFill>
        <p:spPr>
          <a:xfrm>
            <a:off x="7012800" y="3980520"/>
            <a:ext cx="1572120" cy="204840"/>
          </a:xfrm>
          <a:prstGeom prst="rect">
            <a:avLst/>
          </a:prstGeom>
          <a:ln w="0">
            <a:noFill/>
          </a:ln>
        </p:spPr>
      </p:pic>
      <p:pic>
        <p:nvPicPr>
          <p:cNvPr id="146" name="Google Shape;214;p21" descr=""/>
          <p:cNvPicPr/>
          <p:nvPr/>
        </p:nvPicPr>
        <p:blipFill>
          <a:blip r:embed="rId17"/>
          <a:stretch/>
        </p:blipFill>
        <p:spPr>
          <a:xfrm>
            <a:off x="7015320" y="4284000"/>
            <a:ext cx="1627920" cy="20484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215;p21" descr=""/>
          <p:cNvPicPr/>
          <p:nvPr/>
        </p:nvPicPr>
        <p:blipFill>
          <a:blip r:embed="rId18"/>
          <a:stretch/>
        </p:blipFill>
        <p:spPr>
          <a:xfrm>
            <a:off x="5990760" y="287388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216;p21" descr=""/>
          <p:cNvPicPr/>
          <p:nvPr/>
        </p:nvPicPr>
        <p:blipFill>
          <a:blip r:embed="rId19"/>
          <a:stretch/>
        </p:blipFill>
        <p:spPr>
          <a:xfrm>
            <a:off x="6013440" y="2701800"/>
            <a:ext cx="1154880" cy="14400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217;p21" descr=""/>
          <p:cNvPicPr/>
          <p:nvPr/>
        </p:nvPicPr>
        <p:blipFill>
          <a:blip r:embed="rId20"/>
          <a:stretch/>
        </p:blipFill>
        <p:spPr>
          <a:xfrm>
            <a:off x="7549560" y="1193400"/>
            <a:ext cx="1154520" cy="14400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218;p21" descr=""/>
          <p:cNvPicPr/>
          <p:nvPr/>
        </p:nvPicPr>
        <p:blipFill>
          <a:blip r:embed="rId21"/>
          <a:stretch/>
        </p:blipFill>
        <p:spPr>
          <a:xfrm>
            <a:off x="7526880" y="1435320"/>
            <a:ext cx="1154880" cy="18144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219;p21" descr=""/>
          <p:cNvPicPr/>
          <p:nvPr/>
        </p:nvPicPr>
        <p:blipFill>
          <a:blip r:embed="rId22"/>
          <a:stretch/>
        </p:blipFill>
        <p:spPr>
          <a:xfrm>
            <a:off x="5262840" y="367668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220;p21" descr=""/>
          <p:cNvPicPr/>
          <p:nvPr/>
        </p:nvPicPr>
        <p:blipFill>
          <a:blip r:embed="rId23"/>
          <a:stretch/>
        </p:blipFill>
        <p:spPr>
          <a:xfrm>
            <a:off x="5262840" y="368064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221;p21" descr=""/>
          <p:cNvPicPr/>
          <p:nvPr/>
        </p:nvPicPr>
        <p:blipFill>
          <a:blip r:embed="rId24"/>
          <a:stretch/>
        </p:blipFill>
        <p:spPr>
          <a:xfrm>
            <a:off x="5262840" y="368604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154" name="Google Shape;222;p21" descr=""/>
          <p:cNvPicPr/>
          <p:nvPr/>
        </p:nvPicPr>
        <p:blipFill>
          <a:blip r:embed="rId25"/>
          <a:stretch/>
        </p:blipFill>
        <p:spPr>
          <a:xfrm>
            <a:off x="5247360" y="3677040"/>
            <a:ext cx="1534680" cy="127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What is a QSL?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No static magnetic order: ⟨Si⟩=0 even at T=0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Ground state is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long‑range entangled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: cannot be adiabatically deformed to any product state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Supports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fractionalized excitations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 (spin‑½ spinons) and emergent gauge fields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A48AC1-BF5F-44D6-8546-80AAD8C00887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8" name="Google Shape;230;p22" descr=""/>
          <p:cNvPicPr/>
          <p:nvPr/>
        </p:nvPicPr>
        <p:blipFill>
          <a:blip r:embed="rId1"/>
          <a:stretch/>
        </p:blipFill>
        <p:spPr>
          <a:xfrm>
            <a:off x="311760" y="2664000"/>
            <a:ext cx="1317960" cy="39312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231;p22" descr=""/>
          <p:cNvPicPr/>
          <p:nvPr/>
        </p:nvPicPr>
        <p:blipFill>
          <a:blip r:embed="rId2"/>
          <a:stretch/>
        </p:blipFill>
        <p:spPr>
          <a:xfrm>
            <a:off x="1737360" y="2643120"/>
            <a:ext cx="1317960" cy="434520"/>
          </a:xfrm>
          <a:prstGeom prst="rect">
            <a:avLst/>
          </a:prstGeom>
          <a:ln w="0">
            <a:noFill/>
          </a:ln>
        </p:spPr>
      </p:pic>
      <p:pic>
        <p:nvPicPr>
          <p:cNvPr id="160" name="Google Shape;232;p22" descr=""/>
          <p:cNvPicPr/>
          <p:nvPr/>
        </p:nvPicPr>
        <p:blipFill>
          <a:blip r:embed="rId3"/>
          <a:stretch/>
        </p:blipFill>
        <p:spPr>
          <a:xfrm>
            <a:off x="3116520" y="2664000"/>
            <a:ext cx="1317960" cy="434520"/>
          </a:xfrm>
          <a:prstGeom prst="rect">
            <a:avLst/>
          </a:prstGeom>
          <a:ln w="0">
            <a:noFill/>
          </a:ln>
        </p:spPr>
      </p:pic>
      <p:pic>
        <p:nvPicPr>
          <p:cNvPr id="161" name="Google Shape;233;p22" descr=""/>
          <p:cNvPicPr/>
          <p:nvPr/>
        </p:nvPicPr>
        <p:blipFill>
          <a:blip r:embed="rId4"/>
          <a:stretch/>
        </p:blipFill>
        <p:spPr>
          <a:xfrm>
            <a:off x="4572000" y="2664000"/>
            <a:ext cx="1317960" cy="434520"/>
          </a:xfrm>
          <a:prstGeom prst="rect">
            <a:avLst/>
          </a:prstGeom>
          <a:ln w="0">
            <a:noFill/>
          </a:ln>
        </p:spPr>
      </p:pic>
      <p:pic>
        <p:nvPicPr>
          <p:cNvPr id="162" name="Google Shape;234;p22" descr=""/>
          <p:cNvPicPr/>
          <p:nvPr/>
        </p:nvPicPr>
        <p:blipFill>
          <a:blip r:embed="rId5"/>
          <a:stretch/>
        </p:blipFill>
        <p:spPr>
          <a:xfrm>
            <a:off x="1737360" y="3235320"/>
            <a:ext cx="1251000" cy="434520"/>
          </a:xfrm>
          <a:prstGeom prst="rect">
            <a:avLst/>
          </a:prstGeom>
          <a:ln w="0">
            <a:noFill/>
          </a:ln>
        </p:spPr>
      </p:pic>
      <p:pic>
        <p:nvPicPr>
          <p:cNvPr id="163" name="Google Shape;235;p22" descr=""/>
          <p:cNvPicPr/>
          <p:nvPr/>
        </p:nvPicPr>
        <p:blipFill>
          <a:blip r:embed="rId6"/>
          <a:stretch/>
        </p:blipFill>
        <p:spPr>
          <a:xfrm>
            <a:off x="3477600" y="3235320"/>
            <a:ext cx="956520" cy="434520"/>
          </a:xfrm>
          <a:prstGeom prst="rect">
            <a:avLst/>
          </a:prstGeom>
          <a:ln w="0">
            <a:noFill/>
          </a:ln>
        </p:spPr>
      </p:pic>
      <p:pic>
        <p:nvPicPr>
          <p:cNvPr id="164" name="Google Shape;236;p22" descr=""/>
          <p:cNvPicPr/>
          <p:nvPr/>
        </p:nvPicPr>
        <p:blipFill>
          <a:blip r:embed="rId7"/>
          <a:stretch/>
        </p:blipFill>
        <p:spPr>
          <a:xfrm>
            <a:off x="4852440" y="3200760"/>
            <a:ext cx="1108440" cy="50328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237;p22" descr=""/>
          <p:cNvPicPr/>
          <p:nvPr/>
        </p:nvPicPr>
        <p:blipFill>
          <a:blip r:embed="rId8"/>
          <a:stretch/>
        </p:blipFill>
        <p:spPr>
          <a:xfrm>
            <a:off x="3107880" y="3200760"/>
            <a:ext cx="250200" cy="50328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238;p22" descr=""/>
          <p:cNvPicPr/>
          <p:nvPr/>
        </p:nvPicPr>
        <p:blipFill>
          <a:blip r:embed="rId9"/>
          <a:stretch/>
        </p:blipFill>
        <p:spPr>
          <a:xfrm>
            <a:off x="4553640" y="3200760"/>
            <a:ext cx="250200" cy="50328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239;p22" descr=""/>
          <p:cNvPicPr/>
          <p:nvPr/>
        </p:nvPicPr>
        <p:blipFill>
          <a:blip r:embed="rId10"/>
          <a:stretch/>
        </p:blipFill>
        <p:spPr>
          <a:xfrm flipH="1">
            <a:off x="6288480" y="3200760"/>
            <a:ext cx="284760" cy="50328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240;p22" descr=""/>
          <p:cNvPicPr/>
          <p:nvPr/>
        </p:nvPicPr>
        <p:blipFill>
          <a:blip r:embed="rId11"/>
          <a:stretch/>
        </p:blipFill>
        <p:spPr>
          <a:xfrm>
            <a:off x="5999400" y="3200760"/>
            <a:ext cx="250200" cy="50328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241;p22"/>
          <p:cNvSpPr/>
          <p:nvPr/>
        </p:nvSpPr>
        <p:spPr>
          <a:xfrm>
            <a:off x="6333120" y="2643120"/>
            <a:ext cx="28512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595959"/>
                </a:solidFill>
                <a:latin typeface="Arial"/>
                <a:ea typeface="Arial"/>
              </a:rPr>
              <a:t>2)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42;p22"/>
          <p:cNvSpPr/>
          <p:nvPr/>
        </p:nvSpPr>
        <p:spPr>
          <a:xfrm>
            <a:off x="6618600" y="4762800"/>
            <a:ext cx="159516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595959"/>
                </a:solidFill>
                <a:latin typeface="Arial"/>
                <a:ea typeface="Arial"/>
              </a:rPr>
              <a:t>2) Savary and Balents, 2016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247;p23" descr=""/>
          <p:cNvPicPr/>
          <p:nvPr/>
        </p:nvPicPr>
        <p:blipFill>
          <a:blip r:embed="rId1"/>
          <a:stretch/>
        </p:blipFill>
        <p:spPr>
          <a:xfrm>
            <a:off x="2523960" y="1387440"/>
            <a:ext cx="3211920" cy="474120"/>
          </a:xfrm>
          <a:prstGeom prst="rect">
            <a:avLst/>
          </a:prstGeom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311760" y="115380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Schwinger boson representation and constraint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gauge redundancy                dddd leaves all      unchanged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Decouple the Hamiltonian by introducing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leads to free boson Hamiltonian</a:t>
            </a:r>
            <a:br>
              <a:rPr sz="1300"/>
            </a:b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From Schwinger Bosons to Spin Liquids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7BAEB5-7BE7-4846-AE34-F8BCE988C42A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5" name="Google Shape;251;p23" descr=""/>
          <p:cNvPicPr/>
          <p:nvPr/>
        </p:nvPicPr>
        <p:blipFill>
          <a:blip r:embed="rId2"/>
          <a:stretch/>
        </p:blipFill>
        <p:spPr>
          <a:xfrm>
            <a:off x="2600280" y="1912680"/>
            <a:ext cx="1085760" cy="239760"/>
          </a:xfrm>
          <a:prstGeom prst="rect">
            <a:avLst/>
          </a:prstGeom>
          <a:ln w="0">
            <a:noFill/>
          </a:ln>
        </p:spPr>
      </p:pic>
      <p:pic>
        <p:nvPicPr>
          <p:cNvPr id="176" name="Google Shape;252;p23" descr=""/>
          <p:cNvPicPr/>
          <p:nvPr/>
        </p:nvPicPr>
        <p:blipFill>
          <a:blip r:embed="rId3"/>
          <a:stretch/>
        </p:blipFill>
        <p:spPr>
          <a:xfrm>
            <a:off x="2267640" y="2413440"/>
            <a:ext cx="1357560" cy="316440"/>
          </a:xfrm>
          <a:prstGeom prst="rect">
            <a:avLst/>
          </a:prstGeom>
          <a:ln w="0">
            <a:noFill/>
          </a:ln>
        </p:spPr>
      </p:pic>
      <p:pic>
        <p:nvPicPr>
          <p:cNvPr id="177" name="Google Shape;253;p23" descr=""/>
          <p:cNvPicPr/>
          <p:nvPr/>
        </p:nvPicPr>
        <p:blipFill>
          <a:blip r:embed="rId4"/>
          <a:stretch/>
        </p:blipFill>
        <p:spPr>
          <a:xfrm>
            <a:off x="3893040" y="2413440"/>
            <a:ext cx="1357560" cy="316440"/>
          </a:xfrm>
          <a:prstGeom prst="rect">
            <a:avLst/>
          </a:prstGeom>
          <a:ln w="0">
            <a:noFill/>
          </a:ln>
        </p:spPr>
      </p:pic>
      <p:pic>
        <p:nvPicPr>
          <p:cNvPr id="178" name="Google Shape;254;p23" descr=""/>
          <p:cNvPicPr/>
          <p:nvPr/>
        </p:nvPicPr>
        <p:blipFill>
          <a:blip r:embed="rId5"/>
          <a:stretch/>
        </p:blipFill>
        <p:spPr>
          <a:xfrm>
            <a:off x="2213640" y="2990520"/>
            <a:ext cx="3380760" cy="393120"/>
          </a:xfrm>
          <a:prstGeom prst="rect">
            <a:avLst/>
          </a:prstGeom>
          <a:ln w="0">
            <a:noFill/>
          </a:ln>
        </p:spPr>
      </p:pic>
      <p:pic>
        <p:nvPicPr>
          <p:cNvPr id="179" name="Google Shape;255;p23" descr=""/>
          <p:cNvPicPr/>
          <p:nvPr/>
        </p:nvPicPr>
        <p:blipFill>
          <a:blip r:embed="rId6"/>
          <a:stretch/>
        </p:blipFill>
        <p:spPr>
          <a:xfrm>
            <a:off x="4427640" y="1942920"/>
            <a:ext cx="233280" cy="19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Magnetic Order and Spin Liquids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D54EB2-327F-4521-B1A7-CF317565F8D7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992880" y="1456560"/>
            <a:ext cx="357876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Bosons condense at </a:t>
            </a:r>
            <a:r>
              <a:rPr b="1" lang="en-US" sz="13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→ 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Lowest mode reaches E=0</a:t>
            </a:r>
            <a:br>
              <a:rPr sz="1300"/>
            </a:br>
            <a:br>
              <a:rPr sz="1300"/>
            </a:br>
            <a:br>
              <a:rPr sz="1300"/>
            </a:b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⇨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Magnetic order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64;p24"/>
          <p:cNvSpPr/>
          <p:nvPr/>
        </p:nvSpPr>
        <p:spPr>
          <a:xfrm flipH="1">
            <a:off x="4565520" y="1487160"/>
            <a:ext cx="9720" cy="1924200"/>
          </a:xfrm>
          <a:prstGeom prst="straightConnector1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Google Shape;265;p24" descr=""/>
          <p:cNvPicPr/>
          <p:nvPr/>
        </p:nvPicPr>
        <p:blipFill>
          <a:blip r:embed="rId1"/>
          <a:stretch/>
        </p:blipFill>
        <p:spPr>
          <a:xfrm>
            <a:off x="2192400" y="2451600"/>
            <a:ext cx="1649520" cy="23976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5"/>
          <p:cNvSpPr>
            <a:spLocks noGrp="1"/>
          </p:cNvSpPr>
          <p:nvPr>
            <p:ph/>
          </p:nvPr>
        </p:nvSpPr>
        <p:spPr>
          <a:xfrm>
            <a:off x="4186440" y="1456560"/>
            <a:ext cx="357876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Band stays gapped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           →                → </a:t>
            </a:r>
            <a:br>
              <a:rPr sz="1300"/>
            </a:br>
            <a:br>
              <a:rPr sz="1300"/>
            </a:br>
            <a:br>
              <a:rPr sz="1300"/>
            </a:b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⇨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Spin Liquid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Google Shape;267;p24" descr=""/>
          <p:cNvPicPr/>
          <p:nvPr/>
        </p:nvPicPr>
        <p:blipFill>
          <a:blip r:embed="rId2"/>
          <a:stretch/>
        </p:blipFill>
        <p:spPr>
          <a:xfrm>
            <a:off x="5452560" y="2046960"/>
            <a:ext cx="598680" cy="151200"/>
          </a:xfrm>
          <a:prstGeom prst="rect">
            <a:avLst/>
          </a:prstGeom>
          <a:ln w="0">
            <a:noFill/>
          </a:ln>
        </p:spPr>
      </p:pic>
      <p:pic>
        <p:nvPicPr>
          <p:cNvPr id="188" name="Google Shape;268;p24" descr=""/>
          <p:cNvPicPr/>
          <p:nvPr/>
        </p:nvPicPr>
        <p:blipFill>
          <a:blip r:embed="rId3"/>
          <a:stretch/>
        </p:blipFill>
        <p:spPr>
          <a:xfrm>
            <a:off x="6343560" y="2002680"/>
            <a:ext cx="819360" cy="239760"/>
          </a:xfrm>
          <a:prstGeom prst="rect">
            <a:avLst/>
          </a:prstGeom>
          <a:ln w="0">
            <a:noFill/>
          </a:ln>
        </p:spPr>
      </p:pic>
      <p:pic>
        <p:nvPicPr>
          <p:cNvPr id="189" name="Google Shape;269;p24" descr=""/>
          <p:cNvPicPr/>
          <p:nvPr/>
        </p:nvPicPr>
        <p:blipFill>
          <a:blip r:embed="rId4"/>
          <a:stretch/>
        </p:blipFill>
        <p:spPr>
          <a:xfrm>
            <a:off x="5566320" y="2451600"/>
            <a:ext cx="819360" cy="239760"/>
          </a:xfrm>
          <a:prstGeom prst="rect">
            <a:avLst/>
          </a:prstGeom>
          <a:ln w="0">
            <a:noFill/>
          </a:ln>
        </p:spPr>
      </p:pic>
      <p:sp>
        <p:nvSpPr>
          <p:cNvPr id="190" name="Google Shape;270;p24"/>
          <p:cNvSpPr/>
          <p:nvPr/>
        </p:nvSpPr>
        <p:spPr>
          <a:xfrm>
            <a:off x="2270880" y="3727800"/>
            <a:ext cx="4601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This connects the altermagnet with the concept of QSL!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Google Shape;271;p24" descr=""/>
          <p:cNvPicPr/>
          <p:nvPr/>
        </p:nvPicPr>
        <p:blipFill>
          <a:blip r:embed="rId5"/>
          <a:stretch/>
        </p:blipFill>
        <p:spPr>
          <a:xfrm>
            <a:off x="3801600" y="2016360"/>
            <a:ext cx="650520" cy="15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Invariant Gauge Group: U(1) or Z₂?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56BB45-FD51-46FD-8651-0243237606DE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4" name="Google Shape;278;p25" descr=""/>
          <p:cNvPicPr/>
          <p:nvPr/>
        </p:nvPicPr>
        <p:blipFill>
          <a:blip r:embed="rId1"/>
          <a:stretch/>
        </p:blipFill>
        <p:spPr>
          <a:xfrm>
            <a:off x="899640" y="1484640"/>
            <a:ext cx="1227600" cy="311400"/>
          </a:xfrm>
          <a:prstGeom prst="rect">
            <a:avLst/>
          </a:prstGeom>
          <a:ln w="0">
            <a:noFill/>
          </a:ln>
        </p:spPr>
      </p:pic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90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mean-field Hamiltonian is invariant under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→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IGG determines the physical nature of the spin liquid's excitations and its stability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Google Shape;280;p25" descr=""/>
          <p:cNvPicPr/>
          <p:nvPr/>
        </p:nvPicPr>
        <p:blipFill>
          <a:blip r:embed="rId2"/>
          <a:stretch/>
        </p:blipFill>
        <p:spPr>
          <a:xfrm>
            <a:off x="2621880" y="1484640"/>
            <a:ext cx="1702080" cy="311400"/>
          </a:xfrm>
          <a:prstGeom prst="rect">
            <a:avLst/>
          </a:prstGeom>
          <a:ln w="0">
            <a:noFill/>
          </a:ln>
        </p:spPr>
      </p:pic>
      <p:pic>
        <p:nvPicPr>
          <p:cNvPr id="197" name="Google Shape;281;p25" descr=""/>
          <p:cNvPicPr/>
          <p:nvPr/>
        </p:nvPicPr>
        <p:blipFill>
          <a:blip r:embed="rId3"/>
          <a:stretch/>
        </p:blipFill>
        <p:spPr>
          <a:xfrm>
            <a:off x="4726800" y="1484640"/>
            <a:ext cx="1702080" cy="31140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282;p25" descr=""/>
          <p:cNvPicPr/>
          <p:nvPr/>
        </p:nvPicPr>
        <p:blipFill>
          <a:blip r:embed="rId4"/>
          <a:stretch/>
        </p:blipFill>
        <p:spPr>
          <a:xfrm>
            <a:off x="824040" y="1865520"/>
            <a:ext cx="7156440" cy="1238040"/>
          </a:xfrm>
          <a:prstGeom prst="rect">
            <a:avLst/>
          </a:prstGeom>
          <a:ln w="0">
            <a:noFill/>
          </a:ln>
        </p:spPr>
      </p:pic>
      <p:pic>
        <p:nvPicPr>
          <p:cNvPr id="199" name="Google Shape;283;p25" descr=""/>
          <p:cNvPicPr/>
          <p:nvPr/>
        </p:nvPicPr>
        <p:blipFill>
          <a:blip r:embed="rId5"/>
          <a:stretch/>
        </p:blipFill>
        <p:spPr>
          <a:xfrm>
            <a:off x="2561040" y="3103920"/>
            <a:ext cx="1406880" cy="1342080"/>
          </a:xfrm>
          <a:prstGeom prst="rect">
            <a:avLst/>
          </a:prstGeom>
          <a:ln w="0">
            <a:noFill/>
          </a:ln>
        </p:spPr>
      </p:pic>
      <p:pic>
        <p:nvPicPr>
          <p:cNvPr id="200" name="Google Shape;284;p25" descr=""/>
          <p:cNvPicPr/>
          <p:nvPr/>
        </p:nvPicPr>
        <p:blipFill>
          <a:blip r:embed="rId6"/>
          <a:stretch/>
        </p:blipFill>
        <p:spPr>
          <a:xfrm>
            <a:off x="5868000" y="3103920"/>
            <a:ext cx="1251360" cy="123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strategy: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Choose a pattern of Aij,Bij on NN and NNN bonds (the Ansatz).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Diagonalize the boson Hamiltonian, find the lowest mode.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Tune μ so this mode condenses.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Reconstruct the spin texture from the condensate; check if it matches A1, B1, C, etc.</a:t>
            </a: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NN/NNN are enough- no unit cell enlargement needed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Find the minimal Ansatz whose condensation recovers that phase </a:t>
            </a:r>
            <a:br>
              <a:rPr sz="1300"/>
            </a:b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Arial"/>
              </a:rPr>
              <a:t>→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 its gapped version is the neighboring QSL, inheriting the IGG!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Matching phases to SB Ansätze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FC9C19-8E04-4314-B498-EEA9610DB741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4" name="Google Shape;292;p26" descr=""/>
          <p:cNvPicPr/>
          <p:nvPr/>
        </p:nvPicPr>
        <p:blipFill>
          <a:blip r:embed="rId1"/>
          <a:stretch/>
        </p:blipFill>
        <p:spPr>
          <a:xfrm>
            <a:off x="1452600" y="3768840"/>
            <a:ext cx="6238440" cy="79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Phase Diagram Overview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A7806F-1F12-4B39-9E02-D58B0B8CE453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7" name="Google Shape;299;p27" descr=""/>
          <p:cNvPicPr/>
          <p:nvPr/>
        </p:nvPicPr>
        <p:blipFill>
          <a:blip r:embed="rId1"/>
          <a:stretch/>
        </p:blipFill>
        <p:spPr>
          <a:xfrm>
            <a:off x="311760" y="2417760"/>
            <a:ext cx="1305000" cy="1290960"/>
          </a:xfrm>
          <a:prstGeom prst="rect">
            <a:avLst/>
          </a:prstGeom>
          <a:ln w="0">
            <a:noFill/>
          </a:ln>
        </p:spPr>
      </p:pic>
      <p:pic>
        <p:nvPicPr>
          <p:cNvPr id="208" name="Google Shape;300;p27" descr=""/>
          <p:cNvPicPr/>
          <p:nvPr/>
        </p:nvPicPr>
        <p:blipFill>
          <a:blip r:embed="rId2"/>
          <a:stretch/>
        </p:blipFill>
        <p:spPr>
          <a:xfrm>
            <a:off x="230760" y="2413800"/>
            <a:ext cx="1534680" cy="127332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301;p27" descr=""/>
          <p:cNvPicPr/>
          <p:nvPr/>
        </p:nvPicPr>
        <p:blipFill>
          <a:blip r:embed="rId3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210" name="Google Shape;302;p27" descr=""/>
          <p:cNvPicPr/>
          <p:nvPr/>
        </p:nvPicPr>
        <p:blipFill>
          <a:blip r:embed="rId4"/>
          <a:stretch/>
        </p:blipFill>
        <p:spPr>
          <a:xfrm>
            <a:off x="2223000" y="3699000"/>
            <a:ext cx="1252800" cy="1242720"/>
          </a:xfrm>
          <a:prstGeom prst="rect">
            <a:avLst/>
          </a:prstGeom>
          <a:ln w="0">
            <a:noFill/>
          </a:ln>
        </p:spPr>
      </p:pic>
      <p:pic>
        <p:nvPicPr>
          <p:cNvPr id="211" name="Google Shape;303;p27" descr=""/>
          <p:cNvPicPr/>
          <p:nvPr/>
        </p:nvPicPr>
        <p:blipFill>
          <a:blip r:embed="rId5"/>
          <a:stretch/>
        </p:blipFill>
        <p:spPr>
          <a:xfrm>
            <a:off x="2141280" y="3663000"/>
            <a:ext cx="1415880" cy="1273320"/>
          </a:xfrm>
          <a:prstGeom prst="rect">
            <a:avLst/>
          </a:prstGeom>
          <a:ln w="0">
            <a:noFill/>
          </a:ln>
        </p:spPr>
      </p:pic>
      <p:pic>
        <p:nvPicPr>
          <p:cNvPr id="212" name="Google Shape;304;p27" descr=""/>
          <p:cNvPicPr/>
          <p:nvPr/>
        </p:nvPicPr>
        <p:blipFill>
          <a:blip r:embed="rId6"/>
          <a:stretch/>
        </p:blipFill>
        <p:spPr>
          <a:xfrm>
            <a:off x="6139440" y="988200"/>
            <a:ext cx="1305000" cy="1244880"/>
          </a:xfrm>
          <a:prstGeom prst="rect">
            <a:avLst/>
          </a:prstGeom>
          <a:ln w="0">
            <a:noFill/>
          </a:ln>
        </p:spPr>
      </p:pic>
      <p:pic>
        <p:nvPicPr>
          <p:cNvPr id="213" name="Google Shape;305;p27" descr=""/>
          <p:cNvPicPr/>
          <p:nvPr/>
        </p:nvPicPr>
        <p:blipFill>
          <a:blip r:embed="rId7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214" name="Google Shape;306;p27" descr=""/>
          <p:cNvPicPr/>
          <p:nvPr/>
        </p:nvPicPr>
        <p:blipFill>
          <a:blip r:embed="rId8"/>
          <a:stretch/>
        </p:blipFill>
        <p:spPr>
          <a:xfrm>
            <a:off x="7316280" y="2417760"/>
            <a:ext cx="1305000" cy="1244880"/>
          </a:xfrm>
          <a:prstGeom prst="rect">
            <a:avLst/>
          </a:prstGeom>
          <a:ln w="0">
            <a:noFill/>
          </a:ln>
        </p:spPr>
      </p:pic>
      <p:pic>
        <p:nvPicPr>
          <p:cNvPr id="215" name="Google Shape;307;p27" descr=""/>
          <p:cNvPicPr/>
          <p:nvPr/>
        </p:nvPicPr>
        <p:blipFill>
          <a:blip r:embed="rId9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216" name="Google Shape;308;p27" descr=""/>
          <p:cNvPicPr/>
          <p:nvPr/>
        </p:nvPicPr>
        <p:blipFill>
          <a:blip r:embed="rId10"/>
          <a:stretch/>
        </p:blipFill>
        <p:spPr>
          <a:xfrm>
            <a:off x="5438880" y="3713400"/>
            <a:ext cx="1252800" cy="1244880"/>
          </a:xfrm>
          <a:prstGeom prst="rect">
            <a:avLst/>
          </a:prstGeom>
          <a:ln w="0">
            <a:noFill/>
          </a:ln>
        </p:spPr>
      </p:pic>
      <p:pic>
        <p:nvPicPr>
          <p:cNvPr id="217" name="Google Shape;309;p27" descr=""/>
          <p:cNvPicPr/>
          <p:nvPr/>
        </p:nvPicPr>
        <p:blipFill>
          <a:blip r:embed="rId11"/>
          <a:stretch/>
        </p:blipFill>
        <p:spPr>
          <a:xfrm>
            <a:off x="5262840" y="3697920"/>
            <a:ext cx="1504080" cy="1244880"/>
          </a:xfrm>
          <a:prstGeom prst="rect">
            <a:avLst/>
          </a:prstGeom>
          <a:ln w="0">
            <a:noFill/>
          </a:ln>
        </p:spPr>
      </p:pic>
      <p:sp>
        <p:nvSpPr>
          <p:cNvPr id="218" name="Google Shape;310;p27"/>
          <p:cNvSpPr/>
          <p:nvPr/>
        </p:nvSpPr>
        <p:spPr>
          <a:xfrm rot="10800000">
            <a:off x="4790520" y="272268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Google Shape;311;p27" descr=""/>
          <p:cNvPicPr/>
          <p:nvPr/>
        </p:nvPicPr>
        <p:blipFill>
          <a:blip r:embed="rId12"/>
          <a:stretch/>
        </p:blipFill>
        <p:spPr>
          <a:xfrm>
            <a:off x="1812600" y="988200"/>
            <a:ext cx="1305000" cy="1244880"/>
          </a:xfrm>
          <a:prstGeom prst="rect">
            <a:avLst/>
          </a:prstGeom>
          <a:ln w="0">
            <a:noFill/>
          </a:ln>
        </p:spPr>
      </p:pic>
      <p:pic>
        <p:nvPicPr>
          <p:cNvPr id="220" name="Google Shape;312;p27" descr=""/>
          <p:cNvPicPr/>
          <p:nvPr/>
        </p:nvPicPr>
        <p:blipFill>
          <a:blip r:embed="rId13"/>
          <a:stretch/>
        </p:blipFill>
        <p:spPr>
          <a:xfrm>
            <a:off x="1765800" y="979200"/>
            <a:ext cx="1534680" cy="1273320"/>
          </a:xfrm>
          <a:prstGeom prst="rect">
            <a:avLst/>
          </a:prstGeom>
          <a:ln w="0">
            <a:noFill/>
          </a:ln>
        </p:spPr>
      </p:pic>
      <p:sp>
        <p:nvSpPr>
          <p:cNvPr id="221" name="Google Shape;313;p27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5000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Google Shape;314;p27" descr=""/>
          <p:cNvPicPr/>
          <p:nvPr/>
        </p:nvPicPr>
        <p:blipFill>
          <a:blip r:embed="rId14"/>
          <a:stretch/>
        </p:blipFill>
        <p:spPr>
          <a:xfrm>
            <a:off x="3742920" y="969840"/>
            <a:ext cx="1060200" cy="591480"/>
          </a:xfrm>
          <a:prstGeom prst="rect">
            <a:avLst/>
          </a:prstGeom>
          <a:ln w="0">
            <a:noFill/>
          </a:ln>
        </p:spPr>
      </p:pic>
      <p:pic>
        <p:nvPicPr>
          <p:cNvPr id="223" name="Google Shape;315;p27" descr=""/>
          <p:cNvPicPr/>
          <p:nvPr/>
        </p:nvPicPr>
        <p:blipFill>
          <a:blip r:embed="rId15"/>
          <a:stretch/>
        </p:blipFill>
        <p:spPr>
          <a:xfrm>
            <a:off x="4915800" y="1109520"/>
            <a:ext cx="390960" cy="348840"/>
          </a:xfrm>
          <a:prstGeom prst="rect">
            <a:avLst/>
          </a:prstGeom>
          <a:ln w="0">
            <a:noFill/>
          </a:ln>
        </p:spPr>
      </p:pic>
      <p:pic>
        <p:nvPicPr>
          <p:cNvPr id="224" name="Google Shape;316;p27" descr=""/>
          <p:cNvPicPr/>
          <p:nvPr/>
        </p:nvPicPr>
        <p:blipFill>
          <a:blip r:embed="rId16"/>
          <a:stretch/>
        </p:blipFill>
        <p:spPr>
          <a:xfrm>
            <a:off x="1450440" y="99612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25" name="Google Shape;317;p27" descr=""/>
          <p:cNvPicPr/>
          <p:nvPr/>
        </p:nvPicPr>
        <p:blipFill>
          <a:blip r:embed="rId17"/>
          <a:stretch/>
        </p:blipFill>
        <p:spPr>
          <a:xfrm>
            <a:off x="1812600" y="366300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26" name="Google Shape;318;p27" descr=""/>
          <p:cNvPicPr/>
          <p:nvPr/>
        </p:nvPicPr>
        <p:blipFill>
          <a:blip r:embed="rId18"/>
          <a:stretch/>
        </p:blipFill>
        <p:spPr>
          <a:xfrm>
            <a:off x="0" y="2355480"/>
            <a:ext cx="548280" cy="19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Phase Diagram Overview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394AAB-82E2-41DB-BB09-4C539CAECB73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9" name="Google Shape;325;p28" descr=""/>
          <p:cNvPicPr/>
          <p:nvPr/>
        </p:nvPicPr>
        <p:blipFill>
          <a:blip r:embed="rId1"/>
          <a:stretch/>
        </p:blipFill>
        <p:spPr>
          <a:xfrm>
            <a:off x="311760" y="2417760"/>
            <a:ext cx="1305000" cy="1290960"/>
          </a:xfrm>
          <a:prstGeom prst="rect">
            <a:avLst/>
          </a:prstGeom>
          <a:ln w="0">
            <a:noFill/>
          </a:ln>
        </p:spPr>
      </p:pic>
      <p:pic>
        <p:nvPicPr>
          <p:cNvPr id="230" name="Google Shape;326;p28" descr=""/>
          <p:cNvPicPr/>
          <p:nvPr/>
        </p:nvPicPr>
        <p:blipFill>
          <a:blip r:embed="rId2"/>
          <a:stretch/>
        </p:blipFill>
        <p:spPr>
          <a:xfrm>
            <a:off x="3337200" y="1550520"/>
            <a:ext cx="2469600" cy="2041920"/>
          </a:xfrm>
          <a:prstGeom prst="rect">
            <a:avLst/>
          </a:prstGeom>
          <a:ln w="0">
            <a:noFill/>
          </a:ln>
        </p:spPr>
      </p:pic>
      <p:pic>
        <p:nvPicPr>
          <p:cNvPr id="231" name="Google Shape;327;p28" descr=""/>
          <p:cNvPicPr/>
          <p:nvPr/>
        </p:nvPicPr>
        <p:blipFill>
          <a:blip r:embed="rId3"/>
          <a:stretch/>
        </p:blipFill>
        <p:spPr>
          <a:xfrm>
            <a:off x="2223000" y="3699000"/>
            <a:ext cx="1252800" cy="1242720"/>
          </a:xfrm>
          <a:prstGeom prst="rect">
            <a:avLst/>
          </a:prstGeom>
          <a:ln w="0">
            <a:noFill/>
          </a:ln>
        </p:spPr>
      </p:pic>
      <p:pic>
        <p:nvPicPr>
          <p:cNvPr id="232" name="Google Shape;328;p28" descr=""/>
          <p:cNvPicPr/>
          <p:nvPr/>
        </p:nvPicPr>
        <p:blipFill>
          <a:blip r:embed="rId4"/>
          <a:stretch/>
        </p:blipFill>
        <p:spPr>
          <a:xfrm>
            <a:off x="6139440" y="988200"/>
            <a:ext cx="1305000" cy="1244880"/>
          </a:xfrm>
          <a:prstGeom prst="rect">
            <a:avLst/>
          </a:prstGeom>
          <a:ln w="0">
            <a:noFill/>
          </a:ln>
        </p:spPr>
      </p:pic>
      <p:pic>
        <p:nvPicPr>
          <p:cNvPr id="233" name="Google Shape;329;p28" descr=""/>
          <p:cNvPicPr/>
          <p:nvPr/>
        </p:nvPicPr>
        <p:blipFill>
          <a:blip r:embed="rId5"/>
          <a:stretch/>
        </p:blipFill>
        <p:spPr>
          <a:xfrm>
            <a:off x="6045120" y="979200"/>
            <a:ext cx="1504080" cy="1273320"/>
          </a:xfrm>
          <a:prstGeom prst="rect">
            <a:avLst/>
          </a:prstGeom>
          <a:ln w="0">
            <a:noFill/>
          </a:ln>
        </p:spPr>
      </p:pic>
      <p:pic>
        <p:nvPicPr>
          <p:cNvPr id="234" name="Google Shape;330;p28" descr=""/>
          <p:cNvPicPr/>
          <p:nvPr/>
        </p:nvPicPr>
        <p:blipFill>
          <a:blip r:embed="rId6"/>
          <a:stretch/>
        </p:blipFill>
        <p:spPr>
          <a:xfrm>
            <a:off x="7316280" y="2417760"/>
            <a:ext cx="1305000" cy="1244880"/>
          </a:xfrm>
          <a:prstGeom prst="rect">
            <a:avLst/>
          </a:prstGeom>
          <a:ln w="0">
            <a:noFill/>
          </a:ln>
        </p:spPr>
      </p:pic>
      <p:pic>
        <p:nvPicPr>
          <p:cNvPr id="235" name="Google Shape;331;p28" descr=""/>
          <p:cNvPicPr/>
          <p:nvPr/>
        </p:nvPicPr>
        <p:blipFill>
          <a:blip r:embed="rId7"/>
          <a:stretch/>
        </p:blipFill>
        <p:spPr>
          <a:xfrm>
            <a:off x="7201440" y="2404800"/>
            <a:ext cx="1534680" cy="1270440"/>
          </a:xfrm>
          <a:prstGeom prst="rect">
            <a:avLst/>
          </a:prstGeom>
          <a:ln w="0">
            <a:noFill/>
          </a:ln>
        </p:spPr>
      </p:pic>
      <p:pic>
        <p:nvPicPr>
          <p:cNvPr id="236" name="Google Shape;332;p28" descr=""/>
          <p:cNvPicPr/>
          <p:nvPr/>
        </p:nvPicPr>
        <p:blipFill>
          <a:blip r:embed="rId8"/>
          <a:stretch/>
        </p:blipFill>
        <p:spPr>
          <a:xfrm>
            <a:off x="5438880" y="3713400"/>
            <a:ext cx="1252800" cy="1244880"/>
          </a:xfrm>
          <a:prstGeom prst="rect">
            <a:avLst/>
          </a:prstGeom>
          <a:ln w="0">
            <a:noFill/>
          </a:ln>
        </p:spPr>
      </p:pic>
      <p:pic>
        <p:nvPicPr>
          <p:cNvPr id="237" name="Google Shape;333;p28" descr=""/>
          <p:cNvPicPr/>
          <p:nvPr/>
        </p:nvPicPr>
        <p:blipFill>
          <a:blip r:embed="rId9"/>
          <a:stretch/>
        </p:blipFill>
        <p:spPr>
          <a:xfrm>
            <a:off x="5262840" y="3697920"/>
            <a:ext cx="1504080" cy="1244880"/>
          </a:xfrm>
          <a:prstGeom prst="rect">
            <a:avLst/>
          </a:prstGeom>
          <a:ln w="0">
            <a:noFill/>
          </a:ln>
        </p:spPr>
      </p:pic>
      <p:sp>
        <p:nvSpPr>
          <p:cNvPr id="238" name="Google Shape;334;p28"/>
          <p:cNvSpPr/>
          <p:nvPr/>
        </p:nvSpPr>
        <p:spPr>
          <a:xfrm rot="10800000">
            <a:off x="4790520" y="2722680"/>
            <a:ext cx="472320" cy="1597680"/>
          </a:xfrm>
          <a:prstGeom prst="curvedConnector2">
            <a:avLst/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Google Shape;335;p28" descr=""/>
          <p:cNvPicPr/>
          <p:nvPr/>
        </p:nvPicPr>
        <p:blipFill>
          <a:blip r:embed="rId10"/>
          <a:stretch/>
        </p:blipFill>
        <p:spPr>
          <a:xfrm>
            <a:off x="1812600" y="988200"/>
            <a:ext cx="1305000" cy="1244880"/>
          </a:xfrm>
          <a:prstGeom prst="rect">
            <a:avLst/>
          </a:prstGeom>
          <a:ln w="0">
            <a:noFill/>
          </a:ln>
        </p:spPr>
      </p:pic>
      <p:sp>
        <p:nvSpPr>
          <p:cNvPr id="240" name="Google Shape;336;p28"/>
          <p:cNvSpPr/>
          <p:nvPr/>
        </p:nvSpPr>
        <p:spPr>
          <a:xfrm flipH="1" rot="10800000">
            <a:off x="1764720" y="2268000"/>
            <a:ext cx="1510200" cy="898560"/>
          </a:xfrm>
          <a:prstGeom prst="curvedConnector3">
            <a:avLst>
              <a:gd name="adj1" fmla="val 50000"/>
            </a:avLst>
          </a:pr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Google Shape;337;p28" descr=""/>
          <p:cNvPicPr/>
          <p:nvPr/>
        </p:nvPicPr>
        <p:blipFill>
          <a:blip r:embed="rId11"/>
          <a:stretch/>
        </p:blipFill>
        <p:spPr>
          <a:xfrm>
            <a:off x="3742920" y="969840"/>
            <a:ext cx="1060200" cy="591480"/>
          </a:xfrm>
          <a:prstGeom prst="rect">
            <a:avLst/>
          </a:prstGeom>
          <a:ln w="0">
            <a:noFill/>
          </a:ln>
        </p:spPr>
      </p:pic>
      <p:pic>
        <p:nvPicPr>
          <p:cNvPr id="242" name="Google Shape;338;p28" descr=""/>
          <p:cNvPicPr/>
          <p:nvPr/>
        </p:nvPicPr>
        <p:blipFill>
          <a:blip r:embed="rId12"/>
          <a:stretch/>
        </p:blipFill>
        <p:spPr>
          <a:xfrm>
            <a:off x="4915800" y="1109520"/>
            <a:ext cx="390960" cy="348840"/>
          </a:xfrm>
          <a:prstGeom prst="rect">
            <a:avLst/>
          </a:prstGeom>
          <a:ln w="0">
            <a:noFill/>
          </a:ln>
        </p:spPr>
      </p:pic>
      <p:pic>
        <p:nvPicPr>
          <p:cNvPr id="243" name="Google Shape;339;p28" descr=""/>
          <p:cNvPicPr/>
          <p:nvPr/>
        </p:nvPicPr>
        <p:blipFill>
          <a:blip r:embed="rId13"/>
          <a:stretch/>
        </p:blipFill>
        <p:spPr>
          <a:xfrm>
            <a:off x="1450440" y="99612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44" name="Google Shape;340;p28" descr=""/>
          <p:cNvPicPr/>
          <p:nvPr/>
        </p:nvPicPr>
        <p:blipFill>
          <a:blip r:embed="rId14"/>
          <a:stretch/>
        </p:blipFill>
        <p:spPr>
          <a:xfrm>
            <a:off x="5710320" y="97092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45" name="Google Shape;341;p28" descr=""/>
          <p:cNvPicPr/>
          <p:nvPr/>
        </p:nvPicPr>
        <p:blipFill>
          <a:blip r:embed="rId15"/>
          <a:stretch/>
        </p:blipFill>
        <p:spPr>
          <a:xfrm>
            <a:off x="6896160" y="240480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46" name="Google Shape;342;p28" descr=""/>
          <p:cNvPicPr/>
          <p:nvPr/>
        </p:nvPicPr>
        <p:blipFill>
          <a:blip r:embed="rId16"/>
          <a:stretch/>
        </p:blipFill>
        <p:spPr>
          <a:xfrm>
            <a:off x="1812600" y="366300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47" name="Google Shape;343;p28" descr=""/>
          <p:cNvPicPr/>
          <p:nvPr/>
        </p:nvPicPr>
        <p:blipFill>
          <a:blip r:embed="rId17"/>
          <a:stretch/>
        </p:blipFill>
        <p:spPr>
          <a:xfrm>
            <a:off x="0" y="2364120"/>
            <a:ext cx="548280" cy="199080"/>
          </a:xfrm>
          <a:prstGeom prst="rect">
            <a:avLst/>
          </a:prstGeom>
          <a:ln w="0">
            <a:noFill/>
          </a:ln>
        </p:spPr>
      </p:pic>
      <p:pic>
        <p:nvPicPr>
          <p:cNvPr id="248" name="Google Shape;344;p28" descr=""/>
          <p:cNvPicPr/>
          <p:nvPr/>
        </p:nvPicPr>
        <p:blipFill>
          <a:blip r:embed="rId18"/>
          <a:stretch/>
        </p:blipFill>
        <p:spPr>
          <a:xfrm>
            <a:off x="4915800" y="3684600"/>
            <a:ext cx="548280" cy="19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orbital AM → noncoplanar order with staggered scalar chirality, zero net magnetization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IGG = Z₂ (Z₂ spin liquid)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Spin-rotation restored: ⟨Si⟩ = 0, but time-reversal still broken by the surviving altermagnetic chirality pattern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Therefore: Z₂ topological order + AM scalar chirality →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altermagnetic spin liquid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Altermagnetic Spin Liquid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E88A8E-6391-4F8D-B89A-FDA3F89CB1F0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52" name="Google Shape;352;p29"/>
          <p:cNvGrpSpPr/>
          <p:nvPr/>
        </p:nvGrpSpPr>
        <p:grpSpPr>
          <a:xfrm>
            <a:off x="5448600" y="2329560"/>
            <a:ext cx="2610000" cy="2333160"/>
            <a:chOff x="5448600" y="2329560"/>
            <a:chExt cx="2610000" cy="2333160"/>
          </a:xfrm>
        </p:grpSpPr>
        <p:pic>
          <p:nvPicPr>
            <p:cNvPr id="253" name="Google Shape;353;p29" descr=""/>
            <p:cNvPicPr/>
            <p:nvPr/>
          </p:nvPicPr>
          <p:blipFill>
            <a:blip r:embed="rId1"/>
            <a:stretch/>
          </p:blipFill>
          <p:spPr>
            <a:xfrm>
              <a:off x="5448600" y="2329560"/>
              <a:ext cx="1309320" cy="2333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4" name="Google Shape;354;p29" descr=""/>
            <p:cNvPicPr/>
            <p:nvPr/>
          </p:nvPicPr>
          <p:blipFill>
            <a:blip r:embed="rId2"/>
            <a:stretch/>
          </p:blipFill>
          <p:spPr>
            <a:xfrm>
              <a:off x="7113240" y="3683520"/>
              <a:ext cx="945360" cy="393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55" name="Google Shape;355;p29" descr=""/>
          <p:cNvPicPr/>
          <p:nvPr/>
        </p:nvPicPr>
        <p:blipFill>
          <a:blip r:embed="rId3"/>
          <a:stretch/>
        </p:blipFill>
        <p:spPr>
          <a:xfrm>
            <a:off x="1894680" y="2919240"/>
            <a:ext cx="1252800" cy="124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Summary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checkerboard J1​-J2​-K model hosts, besides collinear and nematic phases, a noncoplanar orbital altermagnet with a staggered scalar chirality pattern invariant under TC4z.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Using Schwinger bosons, each classical phase has a neighboring spin liquid; their SR‑invariant symmetry patterns are inherited via SEP​ and χEP​.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orbital altermagnet’s neighbor is an altermagnetic Z₂ spin liquid: no spin order, but a persistent altermagnetic chirality pattern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1BF5D5-EB5A-4DAA-85EF-6DD6F853A193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Summary of the classical magnetic phases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595959"/>
              </a:solidFill>
              <a:latin typeface="Arial"/>
              <a:ea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8D6915-32B6-47B1-8473-6B61A6CB1C5A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2" name="Google Shape;370;p31" descr=""/>
          <p:cNvPicPr/>
          <p:nvPr/>
        </p:nvPicPr>
        <p:blipFill>
          <a:blip r:embed="rId1"/>
          <a:stretch/>
        </p:blipFill>
        <p:spPr>
          <a:xfrm>
            <a:off x="527040" y="1610640"/>
            <a:ext cx="8089920" cy="245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Neighbors and their SR observables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595959"/>
              </a:solidFill>
              <a:latin typeface="Arial"/>
              <a:ea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86A979-A23E-424D-91BE-918D32097CEF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6" name="Google Shape;378;p32" descr=""/>
          <p:cNvPicPr/>
          <p:nvPr/>
        </p:nvPicPr>
        <p:blipFill>
          <a:blip r:embed="rId1"/>
          <a:stretch/>
        </p:blipFill>
        <p:spPr>
          <a:xfrm>
            <a:off x="1040040" y="1563480"/>
            <a:ext cx="7063560" cy="233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Arial"/>
                <a:ea typeface="Arial"/>
              </a:rPr>
              <a:t>The Ansätze and Their Correlators</a:t>
            </a:r>
            <a:br>
              <a:rPr sz="2500"/>
            </a:b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Each panel: Schwinger‑boson Ansatz {Aij,Bij} for one classical phase (A1, A2, A3, B1, B2, C)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Blue arrows = real Aij(singlet pairing); black/gray arrows = real/imaginary (boson hopping)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Colored ellipses show ⟨SEP⟩ in the </a:t>
            </a: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spin‑liquid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 regime; same symmetry pattern as the corresponding classical phase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B4789C-A3DC-459E-844A-9D875A0B039D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0" name="Google Shape;386;p33" descr=""/>
          <p:cNvPicPr/>
          <p:nvPr/>
        </p:nvPicPr>
        <p:blipFill>
          <a:blip r:embed="rId1"/>
          <a:stretch/>
        </p:blipFill>
        <p:spPr>
          <a:xfrm>
            <a:off x="2074680" y="2492280"/>
            <a:ext cx="4398840" cy="207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Classical Spin Ansatz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OpenSymbol"/>
              <a:buAutoNum type="alphaLcPeriod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Q: ordering wavevector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lphaLcPeriod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φ: phase shift between sublattices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OpenSymbol"/>
              <a:buAutoNum type="alphaLcPeriod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ηA/B​: out-of-plane canting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Grid search over (J2,K) minimize the classical energy of these </a:t>
            </a: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params through gradient-descent algorithm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A1C140-23EF-4F18-ABE2-B822B17D79C8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4" name="Google Shape;394;p34" descr=""/>
          <p:cNvPicPr/>
          <p:nvPr/>
        </p:nvPicPr>
        <p:blipFill>
          <a:blip r:embed="rId1"/>
          <a:stretch/>
        </p:blipFill>
        <p:spPr>
          <a:xfrm>
            <a:off x="585000" y="1191600"/>
            <a:ext cx="5416200" cy="393120"/>
          </a:xfrm>
          <a:prstGeom prst="rect">
            <a:avLst/>
          </a:prstGeom>
          <a:ln w="0">
            <a:noFill/>
          </a:ln>
        </p:spPr>
      </p:pic>
      <p:pic>
        <p:nvPicPr>
          <p:cNvPr id="275" name="Google Shape;395;p34" descr=""/>
          <p:cNvPicPr/>
          <p:nvPr/>
        </p:nvPicPr>
        <p:blipFill>
          <a:blip r:embed="rId2"/>
          <a:stretch/>
        </p:blipFill>
        <p:spPr>
          <a:xfrm>
            <a:off x="6086880" y="1400400"/>
            <a:ext cx="2385360" cy="199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Phase C: The Orbital Altermagnet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key pattern: χEP∝(−1,1,−1,1)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Symmetry point: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χEP​ is odd under T and under C4z separately.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068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The pattern (−1,1,−1,1) is invariant under TC4z​</a:t>
            </a:r>
            <a:br>
              <a:rPr sz="1300"/>
            </a:b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→defining symmetry of an altermagnet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06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‘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orbital’ because, in an electron system, scalar spin chirality on a plaquette induces circulating orbital currents with the same staggered T⋅C4z pattern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B29E64-AEFF-46A4-BAB4-565C400BB22C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9" name="Google Shape;403;p35" descr=""/>
          <p:cNvPicPr/>
          <p:nvPr/>
        </p:nvPicPr>
        <p:blipFill>
          <a:blip r:embed="rId1"/>
          <a:stretch/>
        </p:blipFill>
        <p:spPr>
          <a:xfrm>
            <a:off x="3516120" y="3122280"/>
            <a:ext cx="2945880" cy="2021040"/>
          </a:xfrm>
          <a:prstGeom prst="rect">
            <a:avLst/>
          </a:prstGeom>
          <a:ln w="0">
            <a:noFill/>
          </a:ln>
        </p:spPr>
      </p:pic>
      <p:pic>
        <p:nvPicPr>
          <p:cNvPr id="280" name="Google Shape;404;p35" descr=""/>
          <p:cNvPicPr/>
          <p:nvPr/>
        </p:nvPicPr>
        <p:blipFill>
          <a:blip r:embed="rId2"/>
          <a:stretch/>
        </p:blipFill>
        <p:spPr>
          <a:xfrm>
            <a:off x="449280" y="2955600"/>
            <a:ext cx="2297880" cy="192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Experimental Outlook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595959"/>
              </a:solidFill>
              <a:latin typeface="Arial"/>
              <a:ea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110167-3D37-4D00-8AD9-88778046AB0B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4" name="Google Shape;412;p36" descr=""/>
          <p:cNvPicPr/>
          <p:nvPr/>
        </p:nvPicPr>
        <p:blipFill>
          <a:blip r:embed="rId1"/>
          <a:stretch/>
        </p:blipFill>
        <p:spPr>
          <a:xfrm>
            <a:off x="5463360" y="1659960"/>
            <a:ext cx="2769120" cy="290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